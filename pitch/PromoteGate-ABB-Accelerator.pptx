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hamarit.github.io/promotegate-demo/" TargetMode="External"/><Relationship Id="rId2" Type="http://schemas.openxmlformats.org/officeDocument/2006/relationships/hyperlink" Target="https://github.com/dhamariT/promotegate"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F14"/>
        </a:solidFill>
      </p:bgPr>
    </p:bg>
    <p:spTree>
      <p:nvGrpSpPr>
        <p:cNvPr id="1" name=""/>
        <p:cNvGrpSpPr/>
        <p:nvPr/>
      </p:nvGrpSpPr>
      <p:grpSpPr>
        <a:xfrm>
          <a:off x="0" y="0"/>
          <a:ext cx="0" cy="0"/>
          <a:chOff x="0" y="0"/>
          <a:chExt cx="0" cy="0"/>
        </a:xfrm>
      </p:grpSpPr>
      <p:pic>
        <p:nvPicPr>
          <p:cNvPr id="2" name="Image 0" descr="/workspace/pitch/assets/abb-welding-cel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3977640"/>
            <a:ext cx="12191695" cy="2880360"/>
          </a:xfrm>
          <a:prstGeom prst="rect">
            <a:avLst/>
          </a:prstGeom>
          <a:solidFill>
            <a:srgbClr val="0C0F14">
              <a:alpha val="88000"/>
            </a:srgbClr>
          </a:solidFill>
          <a:ln w="12700">
            <a:solidFill>
              <a:srgbClr val="0C0F14"/>
            </a:solidFill>
            <a:prstDash val="solid"/>
          </a:ln>
        </p:spPr>
      </p:sp>
      <p:sp>
        <p:nvSpPr>
          <p:cNvPr id="4" name="Text 1"/>
          <p:cNvSpPr/>
          <p:nvPr/>
        </p:nvSpPr>
        <p:spPr>
          <a:xfrm>
            <a:off x="502920" y="4114800"/>
            <a:ext cx="5486400" cy="256032"/>
          </a:xfrm>
          <a:prstGeom prst="rect">
            <a:avLst/>
          </a:prstGeom>
          <a:noFill/>
          <a:ln/>
        </p:spPr>
        <p:txBody>
          <a:bodyPr wrap="square" lIns="0" tIns="0" rIns="0" bIns="0" rtlCol="0" anchor="ctr"/>
          <a:lstStyle/>
          <a:p>
            <a:pPr indent="0" marL="0">
              <a:buNone/>
            </a:pPr>
            <a:r>
              <a:rPr lang="en-US" sz="1300" b="1" spc="160" kern="0" dirty="0">
                <a:solidFill>
                  <a:srgbClr val="E07A3D"/>
                </a:solidFill>
                <a:latin typeface="Arial" pitchFamily="34" charset="0"/>
                <a:ea typeface="Arial" pitchFamily="34" charset="-122"/>
                <a:cs typeface="Arial" pitchFamily="34" charset="-120"/>
              </a:rPr>
              <a:t>PROMOTEGATE</a:t>
            </a:r>
            <a:endParaRPr lang="en-US" sz="1300" dirty="0"/>
          </a:p>
        </p:txBody>
      </p:sp>
      <p:sp>
        <p:nvSpPr>
          <p:cNvPr id="5" name="Text 2"/>
          <p:cNvSpPr/>
          <p:nvPr/>
        </p:nvSpPr>
        <p:spPr>
          <a:xfrm>
            <a:off x="6583680" y="4114800"/>
            <a:ext cx="5074920" cy="256032"/>
          </a:xfrm>
          <a:prstGeom prst="rect">
            <a:avLst/>
          </a:prstGeom>
          <a:noFill/>
          <a:ln/>
        </p:spPr>
        <p:txBody>
          <a:bodyPr wrap="square" lIns="0" tIns="0" rIns="0" bIns="0" rtlCol="0" anchor="ctr"/>
          <a:lstStyle/>
          <a:p>
            <a:pPr algn="r" indent="0" marL="0">
              <a:buNone/>
            </a:pPr>
            <a:r>
              <a:rPr lang="en-US" sz="1300" spc="120" kern="0" dirty="0">
                <a:solidFill>
                  <a:srgbClr val="A8B0BC"/>
                </a:solidFill>
                <a:latin typeface="Arial" pitchFamily="34" charset="0"/>
                <a:ea typeface="Arial" pitchFamily="34" charset="-122"/>
                <a:cs typeface="Arial" pitchFamily="34" charset="-120"/>
              </a:rPr>
              <a:t>ABB ACCELERATOR 2026</a:t>
            </a:r>
            <a:endParaRPr lang="en-US" sz="1300" dirty="0"/>
          </a:p>
        </p:txBody>
      </p:sp>
      <p:sp>
        <p:nvSpPr>
          <p:cNvPr id="6" name="Text 3"/>
          <p:cNvSpPr/>
          <p:nvPr/>
        </p:nvSpPr>
        <p:spPr>
          <a:xfrm>
            <a:off x="502920" y="4526280"/>
            <a:ext cx="11155680" cy="777240"/>
          </a:xfrm>
          <a:prstGeom prst="rect">
            <a:avLst/>
          </a:prstGeom>
          <a:noFill/>
          <a:ln/>
        </p:spPr>
        <p:txBody>
          <a:bodyPr wrap="square" lIns="0" tIns="0" rIns="0" bIns="0" rtlCol="0" anchor="ctr"/>
          <a:lstStyle/>
          <a:p>
            <a:pPr indent="0" marL="0">
              <a:buNone/>
            </a:pPr>
            <a:r>
              <a:rPr lang="en-US" sz="4000" b="1" dirty="0">
                <a:solidFill>
                  <a:srgbClr val="F7F4EE"/>
                </a:solidFill>
                <a:latin typeface="Arial" pitchFamily="34" charset="0"/>
                <a:ea typeface="Arial" pitchFamily="34" charset="-122"/>
                <a:cs typeface="Arial" pitchFamily="34" charset="-120"/>
              </a:rPr>
              <a:t>Proven safe on this machine.</a:t>
            </a:r>
            <a:endParaRPr lang="en-US" sz="4000" dirty="0"/>
          </a:p>
        </p:txBody>
      </p:sp>
      <p:sp>
        <p:nvSpPr>
          <p:cNvPr id="7" name="Text 4"/>
          <p:cNvSpPr/>
          <p:nvPr/>
        </p:nvSpPr>
        <p:spPr>
          <a:xfrm>
            <a:off x="502920" y="5394960"/>
            <a:ext cx="10515600" cy="640080"/>
          </a:xfrm>
          <a:prstGeom prst="rect">
            <a:avLst/>
          </a:prstGeom>
          <a:noFill/>
          <a:ln/>
        </p:spPr>
        <p:txBody>
          <a:bodyPr wrap="square" lIns="0" tIns="0" rIns="0" bIns="0" rtlCol="0" anchor="ctr"/>
          <a:lstStyle/>
          <a:p>
            <a:pPr indent="0" marL="0">
              <a:buNone/>
            </a:pPr>
            <a:r>
              <a:rPr lang="en-US" sz="1800" dirty="0">
                <a:solidFill>
                  <a:srgbClr val="F7F4EE"/>
                </a:solidFill>
                <a:latin typeface="Arial" pitchFamily="34" charset="0"/>
                <a:ea typeface="Arial" pitchFamily="34" charset="-122"/>
                <a:cs typeface="Arial" pitchFamily="34" charset="-120"/>
              </a:rPr>
              <a:t>A new update ships only after it is safer than what is already running,</a:t>
            </a:r>
            <a:endParaRPr lang="en-US" sz="1800" dirty="0"/>
          </a:p>
          <a:p>
            <a:pPr indent="0" marL="0">
              <a:buNone/>
            </a:pPr>
            <a:r>
              <a:rPr lang="en-US" sz="1800" dirty="0">
                <a:solidFill>
                  <a:srgbClr val="F7F4EE"/>
                </a:solidFill>
                <a:latin typeface="Arial" pitchFamily="34" charset="0"/>
                <a:ea typeface="Arial" pitchFamily="34" charset="-122"/>
                <a:cs typeface="Arial" pitchFamily="34" charset="-120"/>
              </a:rPr>
              <a:t>in the environment it will actually run in.</a:t>
            </a:r>
            <a:endParaRPr lang="en-US" sz="1800" dirty="0"/>
          </a:p>
        </p:txBody>
      </p:sp>
      <p:sp>
        <p:nvSpPr>
          <p:cNvPr id="8" name="Text 5"/>
          <p:cNvSpPr/>
          <p:nvPr/>
        </p:nvSpPr>
        <p:spPr>
          <a:xfrm>
            <a:off x="502920" y="6263640"/>
            <a:ext cx="11155680" cy="237744"/>
          </a:xfrm>
          <a:prstGeom prst="rect">
            <a:avLst/>
          </a:prstGeom>
          <a:noFill/>
          <a:ln/>
        </p:spPr>
        <p:txBody>
          <a:bodyPr wrap="square" lIns="0" tIns="0" rIns="0" bIns="0" rtlCol="0" anchor="ctr"/>
          <a:lstStyle/>
          <a:p>
            <a:pPr indent="0" marL="0">
              <a:buNone/>
            </a:pPr>
            <a:r>
              <a:rPr lang="en-US" sz="1100" dirty="0">
                <a:solidFill>
                  <a:srgbClr val="A8B0BC"/>
                </a:solidFill>
                <a:latin typeface="Arial" pitchFamily="34" charset="0"/>
                <a:ea typeface="Arial" pitchFamily="34" charset="-122"/>
                <a:cs typeface="Arial" pitchFamily="34" charset="-120"/>
              </a:rPr>
              <a:t>Ana 2016, Wikimedia Commons, CC BY-SA 4.0. An ABB robot welding. The scored cell is an IRB 6660.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F14"/>
        </a:solidFill>
      </p:bgPr>
    </p:bg>
    <p:spTree>
      <p:nvGrpSpPr>
        <p:cNvPr id="1" name=""/>
        <p:cNvGrpSpPr/>
        <p:nvPr/>
      </p:nvGrpSpPr>
      <p:grpSpPr>
        <a:xfrm>
          <a:off x="0" y="0"/>
          <a:ext cx="0" cy="0"/>
          <a:chOff x="0" y="0"/>
          <a:chExt cx="0" cy="0"/>
        </a:xfrm>
      </p:grpSpPr>
      <p:pic>
        <p:nvPicPr>
          <p:cNvPr id="2" name="Image 0" descr="/workspace/pitch/assets/abb-irb-wordmark.jpg">    </p:cNvPr>
          <p:cNvPicPr>
            <a:picLocks noChangeAspect="1"/>
          </p:cNvPicPr>
          <p:nvPr/>
        </p:nvPicPr>
        <p:blipFill>
          <a:blip r:embed="rId1"/>
          <a:srcRect l="0" r="0" t="0" b="0"/>
          <a:stretch/>
        </p:blipFill>
        <p:spPr>
          <a:xfrm>
            <a:off x="0" y="0"/>
            <a:ext cx="5623560" cy="6858000"/>
          </a:xfrm>
          <a:prstGeom prst="rect">
            <a:avLst/>
          </a:prstGeom>
        </p:spPr>
      </p:pic>
      <p:sp>
        <p:nvSpPr>
          <p:cNvPr id="3" name="Shape 0"/>
          <p:cNvSpPr/>
          <p:nvPr/>
        </p:nvSpPr>
        <p:spPr>
          <a:xfrm>
            <a:off x="0" y="6355080"/>
            <a:ext cx="5623560" cy="502920"/>
          </a:xfrm>
          <a:prstGeom prst="rect">
            <a:avLst/>
          </a:prstGeom>
          <a:solidFill>
            <a:srgbClr val="0C0F14">
              <a:alpha val="75000"/>
            </a:srgbClr>
          </a:solidFill>
          <a:ln w="12700">
            <a:solidFill>
              <a:srgbClr val="0C0F14"/>
            </a:solidFill>
            <a:prstDash val="solid"/>
          </a:ln>
        </p:spPr>
      </p:sp>
      <p:sp>
        <p:nvSpPr>
          <p:cNvPr id="4" name="Text 1"/>
          <p:cNvSpPr/>
          <p:nvPr/>
        </p:nvSpPr>
        <p:spPr>
          <a:xfrm>
            <a:off x="256032" y="6473952"/>
            <a:ext cx="5120640" cy="237744"/>
          </a:xfrm>
          <a:prstGeom prst="rect">
            <a:avLst/>
          </a:prstGeom>
          <a:noFill/>
          <a:ln/>
        </p:spPr>
        <p:txBody>
          <a:bodyPr wrap="square" lIns="0" tIns="0" rIns="0" bIns="0" rtlCol="0" anchor="ctr"/>
          <a:lstStyle/>
          <a:p>
            <a:pPr indent="0" marL="0">
              <a:buNone/>
            </a:pPr>
            <a:r>
              <a:rPr lang="en-US" sz="1100" dirty="0">
                <a:solidFill>
                  <a:srgbClr val="F7F4EE"/>
                </a:solidFill>
                <a:latin typeface="Arial" pitchFamily="34" charset="0"/>
                <a:ea typeface="Arial" pitchFamily="34" charset="-122"/>
                <a:cs typeface="Arial" pitchFamily="34" charset="-120"/>
              </a:rPr>
              <a:t>© Peter Potrowl, CC BY 2.5</a:t>
            </a:r>
            <a:endParaRPr lang="en-US" sz="1100" dirty="0"/>
          </a:p>
        </p:txBody>
      </p:sp>
      <p:sp>
        <p:nvSpPr>
          <p:cNvPr id="5" name="Text 2"/>
          <p:cNvSpPr/>
          <p:nvPr/>
        </p:nvSpPr>
        <p:spPr>
          <a:xfrm>
            <a:off x="6035040" y="1234440"/>
            <a:ext cx="5669280" cy="274320"/>
          </a:xfrm>
          <a:prstGeom prst="rect">
            <a:avLst/>
          </a:prstGeom>
          <a:noFill/>
          <a:ln/>
        </p:spPr>
        <p:txBody>
          <a:bodyPr wrap="square" lIns="0" tIns="0" rIns="0" bIns="0" rtlCol="0" anchor="ctr"/>
          <a:lstStyle/>
          <a:p>
            <a:pPr indent="0" marL="0">
              <a:buNone/>
            </a:pPr>
            <a:r>
              <a:rPr lang="en-US" sz="1300" b="1" spc="140" kern="0" dirty="0">
                <a:solidFill>
                  <a:srgbClr val="E07A3D"/>
                </a:solidFill>
                <a:latin typeface="Arial" pitchFamily="34" charset="0"/>
                <a:ea typeface="Arial" pitchFamily="34" charset="-122"/>
                <a:cs typeface="Arial" pitchFamily="34" charset="-120"/>
              </a:rPr>
              <a:t>THE MACHINE</a:t>
            </a:r>
            <a:endParaRPr lang="en-US" sz="1300" dirty="0"/>
          </a:p>
        </p:txBody>
      </p:sp>
      <p:sp>
        <p:nvSpPr>
          <p:cNvPr id="6" name="Text 3"/>
          <p:cNvSpPr/>
          <p:nvPr/>
        </p:nvSpPr>
        <p:spPr>
          <a:xfrm>
            <a:off x="6035040" y="1645920"/>
            <a:ext cx="5669280" cy="1554480"/>
          </a:xfrm>
          <a:prstGeom prst="rect">
            <a:avLst/>
          </a:prstGeom>
          <a:noFill/>
          <a:ln/>
        </p:spPr>
        <p:txBody>
          <a:bodyPr wrap="square" lIns="0" tIns="0" rIns="0" bIns="0" rtlCol="0" anchor="ctr"/>
          <a:lstStyle/>
          <a:p>
            <a:pPr indent="0" marL="0">
              <a:buNone/>
            </a:pPr>
            <a:r>
              <a:rPr lang="en-US" sz="3200" b="1" dirty="0">
                <a:solidFill>
                  <a:srgbClr val="F7F4EE"/>
                </a:solidFill>
                <a:latin typeface="Arial" pitchFamily="34" charset="0"/>
                <a:ea typeface="Arial" pitchFamily="34" charset="-122"/>
                <a:cs typeface="Arial" pitchFamily="34" charset="-120"/>
              </a:rPr>
              <a:t>The proof is taken</a:t>
            </a:r>
            <a:endParaRPr lang="en-US" sz="3200" dirty="0"/>
          </a:p>
          <a:p>
            <a:pPr indent="0" marL="0">
              <a:buNone/>
            </a:pPr>
            <a:r>
              <a:rPr lang="en-US" sz="3200" b="1" dirty="0">
                <a:solidFill>
                  <a:srgbClr val="F7F4EE"/>
                </a:solidFill>
                <a:latin typeface="Arial" pitchFamily="34" charset="0"/>
                <a:ea typeface="Arial" pitchFamily="34" charset="-122"/>
                <a:cs typeface="Arial" pitchFamily="34" charset="-120"/>
              </a:rPr>
              <a:t>on the machine.</a:t>
            </a:r>
            <a:endParaRPr lang="en-US" sz="3200" dirty="0"/>
          </a:p>
        </p:txBody>
      </p:sp>
      <p:sp>
        <p:nvSpPr>
          <p:cNvPr id="7" name="Text 4"/>
          <p:cNvSpPr/>
          <p:nvPr/>
        </p:nvSpPr>
        <p:spPr>
          <a:xfrm>
            <a:off x="6035040" y="3383280"/>
            <a:ext cx="5577840" cy="1188720"/>
          </a:xfrm>
          <a:prstGeom prst="rect">
            <a:avLst/>
          </a:prstGeom>
          <a:noFill/>
          <a:ln/>
        </p:spPr>
        <p:txBody>
          <a:bodyPr wrap="square" lIns="0" tIns="0" rIns="0" bIns="0" rtlCol="0" anchor="ctr"/>
          <a:lstStyle/>
          <a:p>
            <a:pPr indent="0" marL="0">
              <a:buNone/>
            </a:pPr>
            <a:r>
              <a:rPr lang="en-US" sz="1800" dirty="0">
                <a:solidFill>
                  <a:srgbClr val="A8B0BC"/>
                </a:solidFill>
                <a:latin typeface="Arial" pitchFamily="34" charset="0"/>
                <a:ea typeface="Arial" pitchFamily="34" charset="-122"/>
                <a:cs typeface="Arial" pitchFamily="34" charset="-120"/>
              </a:rPr>
              <a:t>Held-out passes from this cell decide it. The baseline is the model already watching it.</a:t>
            </a:r>
            <a:endParaRPr lang="en-US" sz="1800" dirty="0"/>
          </a:p>
        </p:txBody>
      </p:sp>
      <p:sp>
        <p:nvSpPr>
          <p:cNvPr id="8" name="Text 5"/>
          <p:cNvSpPr/>
          <p:nvPr/>
        </p:nvSpPr>
        <p:spPr>
          <a:xfrm>
            <a:off x="6035040" y="4846320"/>
            <a:ext cx="5577840" cy="731520"/>
          </a:xfrm>
          <a:prstGeom prst="rect">
            <a:avLst/>
          </a:prstGeom>
          <a:noFill/>
          <a:ln/>
        </p:spPr>
        <p:txBody>
          <a:bodyPr wrap="square" lIns="0" tIns="0" rIns="0" bIns="0" rtlCol="0" anchor="ctr"/>
          <a:lstStyle/>
          <a:p>
            <a:pPr indent="0" marL="0">
              <a:buNone/>
            </a:pPr>
            <a:r>
              <a:rPr lang="en-US" sz="1600" dirty="0">
                <a:solidFill>
                  <a:srgbClr val="F7F4EE"/>
                </a:solidFill>
                <a:latin typeface="Arial" pitchFamily="34" charset="0"/>
                <a:ea typeface="Arial" pitchFamily="34" charset="-122"/>
                <a:cs typeface="Arial" pitchFamily="34" charset="-120"/>
              </a:rPr>
              <a:t>Current, force, torque, vibration. The log the robot already writes.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0E8"/>
        </a:solidFill>
      </p:bgPr>
    </p:bg>
    <p:spTree>
      <p:nvGrpSpPr>
        <p:cNvPr id="1" name=""/>
        <p:cNvGrpSpPr/>
        <p:nvPr/>
      </p:nvGrpSpPr>
      <p:grpSpPr>
        <a:xfrm>
          <a:off x="0" y="0"/>
          <a:ext cx="0" cy="0"/>
          <a:chOff x="0" y="0"/>
          <a:chExt cx="0" cy="0"/>
        </a:xfrm>
      </p:grpSpPr>
      <p:sp>
        <p:nvSpPr>
          <p:cNvPr id="2" name="Text 0"/>
          <p:cNvSpPr/>
          <p:nvPr/>
        </p:nvSpPr>
        <p:spPr>
          <a:xfrm>
            <a:off x="502920" y="365760"/>
            <a:ext cx="640080" cy="274320"/>
          </a:xfrm>
          <a:prstGeom prst="rect">
            <a:avLst/>
          </a:prstGeom>
          <a:noFill/>
          <a:ln/>
        </p:spPr>
        <p:txBody>
          <a:bodyPr wrap="square" lIns="0" tIns="0" rIns="0" bIns="0" rtlCol="0" anchor="ctr"/>
          <a:lstStyle/>
          <a:p>
            <a:pPr indent="0" marL="0">
              <a:buNone/>
            </a:pPr>
            <a:r>
              <a:rPr lang="en-US" sz="1300" b="1" dirty="0">
                <a:solidFill>
                  <a:srgbClr val="5C6573"/>
                </a:solidFill>
                <a:latin typeface="Arial" pitchFamily="34" charset="0"/>
                <a:ea typeface="Arial" pitchFamily="34" charset="-122"/>
                <a:cs typeface="Arial" pitchFamily="34" charset="-120"/>
              </a:rPr>
              <a:t>03</a:t>
            </a:r>
            <a:endParaRPr lang="en-US" sz="1300" dirty="0"/>
          </a:p>
        </p:txBody>
      </p:sp>
      <p:sp>
        <p:nvSpPr>
          <p:cNvPr id="3" name="Text 1"/>
          <p:cNvSpPr/>
          <p:nvPr/>
        </p:nvSpPr>
        <p:spPr>
          <a:xfrm>
            <a:off x="1097280" y="365760"/>
            <a:ext cx="5486400" cy="274320"/>
          </a:xfrm>
          <a:prstGeom prst="rect">
            <a:avLst/>
          </a:prstGeom>
          <a:noFill/>
          <a:ln/>
        </p:spPr>
        <p:txBody>
          <a:bodyPr wrap="square" lIns="0" tIns="0" rIns="0" bIns="0" rtlCol="0" anchor="ctr"/>
          <a:lstStyle/>
          <a:p>
            <a:pPr indent="0" marL="0">
              <a:buNone/>
            </a:pPr>
            <a:r>
              <a:rPr lang="en-US" sz="1300" b="1" spc="140" kern="0" dirty="0">
                <a:solidFill>
                  <a:srgbClr val="E07A3D"/>
                </a:solidFill>
                <a:latin typeface="Arial" pitchFamily="34" charset="0"/>
                <a:ea typeface="Arial" pitchFamily="34" charset="-122"/>
                <a:cs typeface="Arial" pitchFamily="34" charset="-120"/>
              </a:rPr>
              <a:t>SAFE, HERE</a:t>
            </a:r>
            <a:endParaRPr lang="en-US" sz="1300" dirty="0"/>
          </a:p>
        </p:txBody>
      </p:sp>
      <p:sp>
        <p:nvSpPr>
          <p:cNvPr id="4" name="Text 2"/>
          <p:cNvSpPr/>
          <p:nvPr/>
        </p:nvSpPr>
        <p:spPr>
          <a:xfrm>
            <a:off x="502920" y="822960"/>
            <a:ext cx="11155680" cy="548640"/>
          </a:xfrm>
          <a:prstGeom prst="rect">
            <a:avLst/>
          </a:prstGeom>
          <a:noFill/>
          <a:ln/>
        </p:spPr>
        <p:txBody>
          <a:bodyPr wrap="square" lIns="0" tIns="0" rIns="0" bIns="0" rtlCol="0" anchor="ctr"/>
          <a:lstStyle/>
          <a:p>
            <a:pPr indent="0" marL="0">
              <a:buNone/>
            </a:pPr>
            <a:r>
              <a:rPr lang="en-US" sz="3000" b="1" dirty="0">
                <a:solidFill>
                  <a:srgbClr val="12171F"/>
                </a:solidFill>
                <a:latin typeface="Arial" pitchFamily="34" charset="0"/>
                <a:ea typeface="Arial" pitchFamily="34" charset="-122"/>
                <a:cs typeface="Arial" pitchFamily="34" charset="-120"/>
              </a:rPr>
              <a:t>Safer than what is running on this machine.</a:t>
            </a:r>
            <a:endParaRPr lang="en-US" sz="3000" dirty="0"/>
          </a:p>
        </p:txBody>
      </p:sp>
      <p:sp>
        <p:nvSpPr>
          <p:cNvPr id="5" name="Shape 3"/>
          <p:cNvSpPr/>
          <p:nvPr/>
        </p:nvSpPr>
        <p:spPr>
          <a:xfrm>
            <a:off x="502920" y="1691640"/>
            <a:ext cx="11201400" cy="10973"/>
          </a:xfrm>
          <a:prstGeom prst="rect">
            <a:avLst/>
          </a:prstGeom>
          <a:solidFill>
            <a:srgbClr val="D5CBBC"/>
          </a:solidFill>
          <a:ln w="12700">
            <a:solidFill>
              <a:srgbClr val="D5CBBC"/>
            </a:solidFill>
            <a:prstDash val="solid"/>
          </a:ln>
        </p:spPr>
      </p:sp>
      <p:sp>
        <p:nvSpPr>
          <p:cNvPr id="6" name="Text 4"/>
          <p:cNvSpPr/>
          <p:nvPr/>
        </p:nvSpPr>
        <p:spPr>
          <a:xfrm>
            <a:off x="502920" y="1947672"/>
            <a:ext cx="1005840" cy="411480"/>
          </a:xfrm>
          <a:prstGeom prst="rect">
            <a:avLst/>
          </a:prstGeom>
          <a:noFill/>
          <a:ln/>
        </p:spPr>
        <p:txBody>
          <a:bodyPr wrap="square" lIns="0" tIns="0" rIns="0" bIns="0" rtlCol="0" anchor="ctr"/>
          <a:lstStyle/>
          <a:p>
            <a:pPr indent="0" marL="0">
              <a:buNone/>
            </a:pPr>
            <a:r>
              <a:rPr lang="en-US" sz="2000" b="1" dirty="0">
                <a:solidFill>
                  <a:srgbClr val="E07A3D"/>
                </a:solidFill>
                <a:latin typeface="Arial" pitchFamily="34" charset="0"/>
                <a:ea typeface="Arial" pitchFamily="34" charset="-122"/>
                <a:cs typeface="Arial" pitchFamily="34" charset="-120"/>
              </a:rPr>
              <a:t>01</a:t>
            </a:r>
            <a:endParaRPr lang="en-US" sz="2000" dirty="0"/>
          </a:p>
        </p:txBody>
      </p:sp>
      <p:sp>
        <p:nvSpPr>
          <p:cNvPr id="7" name="Text 5"/>
          <p:cNvSpPr/>
          <p:nvPr/>
        </p:nvSpPr>
        <p:spPr>
          <a:xfrm>
            <a:off x="1737360" y="1920240"/>
            <a:ext cx="3291840" cy="457200"/>
          </a:xfrm>
          <a:prstGeom prst="rect">
            <a:avLst/>
          </a:prstGeom>
          <a:noFill/>
          <a:ln/>
        </p:spPr>
        <p:txBody>
          <a:bodyPr wrap="square" lIns="0" tIns="0" rIns="0" bIns="0" rtlCol="0" anchor="ctr"/>
          <a:lstStyle/>
          <a:p>
            <a:pPr indent="0" marL="0">
              <a:buNone/>
            </a:pPr>
            <a:r>
              <a:rPr lang="en-US" sz="2200" b="1" dirty="0">
                <a:solidFill>
                  <a:srgbClr val="12171F"/>
                </a:solidFill>
                <a:latin typeface="Arial" pitchFamily="34" charset="0"/>
                <a:ea typeface="Arial" pitchFamily="34" charset="-122"/>
                <a:cs typeface="Arial" pitchFamily="34" charset="-120"/>
              </a:rPr>
              <a:t>Missed faults</a:t>
            </a:r>
            <a:endParaRPr lang="en-US" sz="2200" dirty="0"/>
          </a:p>
        </p:txBody>
      </p:sp>
      <p:sp>
        <p:nvSpPr>
          <p:cNvPr id="8" name="Text 6"/>
          <p:cNvSpPr/>
          <p:nvPr/>
        </p:nvSpPr>
        <p:spPr>
          <a:xfrm>
            <a:off x="5212080" y="1892808"/>
            <a:ext cx="6400800" cy="868680"/>
          </a:xfrm>
          <a:prstGeom prst="rect">
            <a:avLst/>
          </a:prstGeom>
          <a:noFill/>
          <a:ln/>
        </p:spPr>
        <p:txBody>
          <a:bodyPr wrap="square" lIns="0" tIns="0" rIns="0" bIns="0" rtlCol="0" anchor="ctr"/>
          <a:lstStyle/>
          <a:p>
            <a:pPr indent="0" marL="0">
              <a:buNone/>
            </a:pPr>
            <a:r>
              <a:rPr lang="en-US" sz="1600" dirty="0">
                <a:solidFill>
                  <a:srgbClr val="5C6573"/>
                </a:solidFill>
                <a:latin typeface="Arial" pitchFamily="34" charset="0"/>
                <a:ea typeface="Arial" pitchFamily="34" charset="-122"/>
                <a:cs typeface="Arial" pitchFamily="34" charset="-120"/>
              </a:rPr>
              <a:t>The update must not miss more faults than the model already in production, on passes neither has seen.</a:t>
            </a:r>
            <a:endParaRPr lang="en-US" sz="1600" dirty="0"/>
          </a:p>
        </p:txBody>
      </p:sp>
      <p:sp>
        <p:nvSpPr>
          <p:cNvPr id="9" name="Shape 7"/>
          <p:cNvSpPr/>
          <p:nvPr/>
        </p:nvSpPr>
        <p:spPr>
          <a:xfrm>
            <a:off x="502920" y="3200400"/>
            <a:ext cx="11201400" cy="10973"/>
          </a:xfrm>
          <a:prstGeom prst="rect">
            <a:avLst/>
          </a:prstGeom>
          <a:solidFill>
            <a:srgbClr val="D5CBBC"/>
          </a:solidFill>
          <a:ln w="12700">
            <a:solidFill>
              <a:srgbClr val="D5CBBC"/>
            </a:solidFill>
            <a:prstDash val="solid"/>
          </a:ln>
        </p:spPr>
      </p:sp>
      <p:sp>
        <p:nvSpPr>
          <p:cNvPr id="10" name="Text 8"/>
          <p:cNvSpPr/>
          <p:nvPr/>
        </p:nvSpPr>
        <p:spPr>
          <a:xfrm>
            <a:off x="502920" y="3456432"/>
            <a:ext cx="1005840" cy="411480"/>
          </a:xfrm>
          <a:prstGeom prst="rect">
            <a:avLst/>
          </a:prstGeom>
          <a:noFill/>
          <a:ln/>
        </p:spPr>
        <p:txBody>
          <a:bodyPr wrap="square" lIns="0" tIns="0" rIns="0" bIns="0" rtlCol="0" anchor="ctr"/>
          <a:lstStyle/>
          <a:p>
            <a:pPr indent="0" marL="0">
              <a:buNone/>
            </a:pPr>
            <a:r>
              <a:rPr lang="en-US" sz="2000" b="1" dirty="0">
                <a:solidFill>
                  <a:srgbClr val="E07A3D"/>
                </a:solidFill>
                <a:latin typeface="Arial" pitchFamily="34" charset="0"/>
                <a:ea typeface="Arial" pitchFamily="34" charset="-122"/>
                <a:cs typeface="Arial" pitchFamily="34" charset="-120"/>
              </a:rPr>
              <a:t>02</a:t>
            </a:r>
            <a:endParaRPr lang="en-US" sz="2000" dirty="0"/>
          </a:p>
        </p:txBody>
      </p:sp>
      <p:sp>
        <p:nvSpPr>
          <p:cNvPr id="11" name="Text 9"/>
          <p:cNvSpPr/>
          <p:nvPr/>
        </p:nvSpPr>
        <p:spPr>
          <a:xfrm>
            <a:off x="1737360" y="3429000"/>
            <a:ext cx="3291840" cy="457200"/>
          </a:xfrm>
          <a:prstGeom prst="rect">
            <a:avLst/>
          </a:prstGeom>
          <a:noFill/>
          <a:ln/>
        </p:spPr>
        <p:txBody>
          <a:bodyPr wrap="square" lIns="0" tIns="0" rIns="0" bIns="0" rtlCol="0" anchor="ctr"/>
          <a:lstStyle/>
          <a:p>
            <a:pPr indent="0" marL="0">
              <a:buNone/>
            </a:pPr>
            <a:r>
              <a:rPr lang="en-US" sz="2200" b="1" dirty="0">
                <a:solidFill>
                  <a:srgbClr val="12171F"/>
                </a:solidFill>
                <a:latin typeface="Arial" pitchFamily="34" charset="0"/>
                <a:ea typeface="Arial" pitchFamily="34" charset="-122"/>
                <a:cs typeface="Arial" pitchFamily="34" charset="-120"/>
              </a:rPr>
              <a:t>False alarms</a:t>
            </a:r>
            <a:endParaRPr lang="en-US" sz="2200" dirty="0"/>
          </a:p>
        </p:txBody>
      </p:sp>
      <p:sp>
        <p:nvSpPr>
          <p:cNvPr id="12" name="Text 10"/>
          <p:cNvSpPr/>
          <p:nvPr/>
        </p:nvSpPr>
        <p:spPr>
          <a:xfrm>
            <a:off x="5212080" y="3401568"/>
            <a:ext cx="6400800" cy="868680"/>
          </a:xfrm>
          <a:prstGeom prst="rect">
            <a:avLst/>
          </a:prstGeom>
          <a:noFill/>
          <a:ln/>
        </p:spPr>
        <p:txBody>
          <a:bodyPr wrap="square" lIns="0" tIns="0" rIns="0" bIns="0" rtlCol="0" anchor="ctr"/>
          <a:lstStyle/>
          <a:p>
            <a:pPr indent="0" marL="0">
              <a:buNone/>
            </a:pPr>
            <a:r>
              <a:rPr lang="en-US" sz="1600" dirty="0">
                <a:solidFill>
                  <a:srgbClr val="5C6573"/>
                </a:solidFill>
                <a:latin typeface="Arial" pitchFamily="34" charset="0"/>
                <a:ea typeface="Arial" pitchFamily="34" charset="-122"/>
                <a:cs typeface="Arial" pitchFamily="34" charset="-120"/>
              </a:rPr>
              <a:t>Under a cap fixed in advance, and no worse than production. A quiet fault and a crew that stops listening are both failures.</a:t>
            </a:r>
            <a:endParaRPr lang="en-US" sz="1600" dirty="0"/>
          </a:p>
        </p:txBody>
      </p:sp>
      <p:sp>
        <p:nvSpPr>
          <p:cNvPr id="13" name="Shape 11"/>
          <p:cNvSpPr/>
          <p:nvPr/>
        </p:nvSpPr>
        <p:spPr>
          <a:xfrm>
            <a:off x="502920" y="4709160"/>
            <a:ext cx="11201400" cy="10973"/>
          </a:xfrm>
          <a:prstGeom prst="rect">
            <a:avLst/>
          </a:prstGeom>
          <a:solidFill>
            <a:srgbClr val="D5CBBC"/>
          </a:solidFill>
          <a:ln w="12700">
            <a:solidFill>
              <a:srgbClr val="D5CBBC"/>
            </a:solidFill>
            <a:prstDash val="solid"/>
          </a:ln>
        </p:spPr>
      </p:sp>
      <p:sp>
        <p:nvSpPr>
          <p:cNvPr id="14" name="Text 12"/>
          <p:cNvSpPr/>
          <p:nvPr/>
        </p:nvSpPr>
        <p:spPr>
          <a:xfrm>
            <a:off x="502920" y="4965192"/>
            <a:ext cx="1005840" cy="411480"/>
          </a:xfrm>
          <a:prstGeom prst="rect">
            <a:avLst/>
          </a:prstGeom>
          <a:noFill/>
          <a:ln/>
        </p:spPr>
        <p:txBody>
          <a:bodyPr wrap="square" lIns="0" tIns="0" rIns="0" bIns="0" rtlCol="0" anchor="ctr"/>
          <a:lstStyle/>
          <a:p>
            <a:pPr indent="0" marL="0">
              <a:buNone/>
            </a:pPr>
            <a:r>
              <a:rPr lang="en-US" sz="2000" b="1" dirty="0">
                <a:solidFill>
                  <a:srgbClr val="E07A3D"/>
                </a:solidFill>
                <a:latin typeface="Arial" pitchFamily="34" charset="0"/>
                <a:ea typeface="Arial" pitchFamily="34" charset="-122"/>
                <a:cs typeface="Arial" pitchFamily="34" charset="-120"/>
              </a:rPr>
              <a:t>03</a:t>
            </a:r>
            <a:endParaRPr lang="en-US" sz="2000" dirty="0"/>
          </a:p>
        </p:txBody>
      </p:sp>
      <p:sp>
        <p:nvSpPr>
          <p:cNvPr id="15" name="Text 13"/>
          <p:cNvSpPr/>
          <p:nvPr/>
        </p:nvSpPr>
        <p:spPr>
          <a:xfrm>
            <a:off x="1737360" y="4937760"/>
            <a:ext cx="3291840" cy="457200"/>
          </a:xfrm>
          <a:prstGeom prst="rect">
            <a:avLst/>
          </a:prstGeom>
          <a:noFill/>
          <a:ln/>
        </p:spPr>
        <p:txBody>
          <a:bodyPr wrap="square" lIns="0" tIns="0" rIns="0" bIns="0" rtlCol="0" anchor="ctr"/>
          <a:lstStyle/>
          <a:p>
            <a:pPr indent="0" marL="0">
              <a:buNone/>
            </a:pPr>
            <a:r>
              <a:rPr lang="en-US" sz="2200" b="1" dirty="0">
                <a:solidFill>
                  <a:srgbClr val="12171F"/>
                </a:solidFill>
                <a:latin typeface="Arial" pitchFamily="34" charset="0"/>
                <a:ea typeface="Arial" pitchFamily="34" charset="-122"/>
                <a:cs typeface="Arial" pitchFamily="34" charset="-120"/>
              </a:rPr>
              <a:t>Warning time</a:t>
            </a:r>
            <a:endParaRPr lang="en-US" sz="2200" dirty="0"/>
          </a:p>
        </p:txBody>
      </p:sp>
      <p:sp>
        <p:nvSpPr>
          <p:cNvPr id="16" name="Text 14"/>
          <p:cNvSpPr/>
          <p:nvPr/>
        </p:nvSpPr>
        <p:spPr>
          <a:xfrm>
            <a:off x="5212080" y="4910328"/>
            <a:ext cx="6400800" cy="868680"/>
          </a:xfrm>
          <a:prstGeom prst="rect">
            <a:avLst/>
          </a:prstGeom>
          <a:noFill/>
          <a:ln/>
        </p:spPr>
        <p:txBody>
          <a:bodyPr wrap="square" lIns="0" tIns="0" rIns="0" bIns="0" rtlCol="0" anchor="ctr"/>
          <a:lstStyle/>
          <a:p>
            <a:pPr indent="0" marL="0">
              <a:buNone/>
            </a:pPr>
            <a:r>
              <a:rPr lang="en-US" sz="1600" dirty="0">
                <a:solidFill>
                  <a:srgbClr val="5C6573"/>
                </a:solidFill>
                <a:latin typeface="Arial" pitchFamily="34" charset="0"/>
                <a:ea typeface="Arial" pitchFamily="34" charset="-122"/>
                <a:cs typeface="Arial" pitchFamily="34" charset="-120"/>
              </a:rPr>
              <a:t>Scored only when this environment records a clock to the failure. These recordings do not, so it is left unscored.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8"/>
        </a:solidFill>
      </p:bgPr>
    </p:bg>
    <p:spTree>
      <p:nvGrpSpPr>
        <p:cNvPr id="1" name=""/>
        <p:cNvGrpSpPr/>
        <p:nvPr/>
      </p:nvGrpSpPr>
      <p:grpSpPr>
        <a:xfrm>
          <a:off x="0" y="0"/>
          <a:ext cx="0" cy="0"/>
          <a:chOff x="0" y="0"/>
          <a:chExt cx="0" cy="0"/>
        </a:xfrm>
      </p:grpSpPr>
      <p:sp>
        <p:nvSpPr>
          <p:cNvPr id="2" name="Text 0"/>
          <p:cNvSpPr/>
          <p:nvPr/>
        </p:nvSpPr>
        <p:spPr>
          <a:xfrm>
            <a:off x="502920" y="347472"/>
            <a:ext cx="640080" cy="256032"/>
          </a:xfrm>
          <a:prstGeom prst="rect">
            <a:avLst/>
          </a:prstGeom>
          <a:noFill/>
          <a:ln/>
        </p:spPr>
        <p:txBody>
          <a:bodyPr wrap="square" lIns="0" tIns="0" rIns="0" bIns="0" rtlCol="0" anchor="ctr"/>
          <a:lstStyle/>
          <a:p>
            <a:pPr indent="0" marL="0">
              <a:buNone/>
            </a:pPr>
            <a:r>
              <a:rPr lang="en-US" sz="1300" b="1" dirty="0">
                <a:solidFill>
                  <a:srgbClr val="5C6573"/>
                </a:solidFill>
                <a:latin typeface="Arial" pitchFamily="34" charset="0"/>
                <a:ea typeface="Arial" pitchFamily="34" charset="-122"/>
                <a:cs typeface="Arial" pitchFamily="34" charset="-120"/>
              </a:rPr>
              <a:t>04</a:t>
            </a:r>
            <a:endParaRPr lang="en-US" sz="1300" dirty="0"/>
          </a:p>
        </p:txBody>
      </p:sp>
      <p:sp>
        <p:nvSpPr>
          <p:cNvPr id="3" name="Text 1"/>
          <p:cNvSpPr/>
          <p:nvPr/>
        </p:nvSpPr>
        <p:spPr>
          <a:xfrm>
            <a:off x="1097280" y="347472"/>
            <a:ext cx="5486400" cy="256032"/>
          </a:xfrm>
          <a:prstGeom prst="rect">
            <a:avLst/>
          </a:prstGeom>
          <a:noFill/>
          <a:ln/>
        </p:spPr>
        <p:txBody>
          <a:bodyPr wrap="square" lIns="0" tIns="0" rIns="0" bIns="0" rtlCol="0" anchor="ctr"/>
          <a:lstStyle/>
          <a:p>
            <a:pPr indent="0" marL="0">
              <a:buNone/>
            </a:pPr>
            <a:r>
              <a:rPr lang="en-US" sz="1300" b="1" spc="140" kern="0" dirty="0">
                <a:solidFill>
                  <a:srgbClr val="E07A3D"/>
                </a:solidFill>
                <a:latin typeface="Arial" pitchFamily="34" charset="0"/>
                <a:ea typeface="Arial" pitchFamily="34" charset="-122"/>
                <a:cs typeface="Arial" pitchFamily="34" charset="-120"/>
              </a:rPr>
              <a:t>THIS MACHINE</a:t>
            </a:r>
            <a:endParaRPr lang="en-US" sz="1300" dirty="0"/>
          </a:p>
        </p:txBody>
      </p:sp>
      <p:sp>
        <p:nvSpPr>
          <p:cNvPr id="4" name="Text 2"/>
          <p:cNvSpPr/>
          <p:nvPr/>
        </p:nvSpPr>
        <p:spPr>
          <a:xfrm>
            <a:off x="502920" y="731520"/>
            <a:ext cx="10972800" cy="457200"/>
          </a:xfrm>
          <a:prstGeom prst="rect">
            <a:avLst/>
          </a:prstGeom>
          <a:noFill/>
          <a:ln/>
        </p:spPr>
        <p:txBody>
          <a:bodyPr wrap="square" lIns="0" tIns="0" rIns="0" bIns="0" rtlCol="0" anchor="ctr"/>
          <a:lstStyle/>
          <a:p>
            <a:pPr indent="0" marL="0">
              <a:buNone/>
            </a:pPr>
            <a:r>
              <a:rPr lang="en-US" sz="2800" b="1" dirty="0">
                <a:solidFill>
                  <a:srgbClr val="12171F"/>
                </a:solidFill>
                <a:latin typeface="Arial" pitchFamily="34" charset="0"/>
                <a:ea typeface="Arial" pitchFamily="34" charset="-122"/>
                <a:cs typeface="Arial" pitchFamily="34" charset="-120"/>
              </a:rPr>
              <a:t>An ABB IRB 6660. 55 faults held back.</a:t>
            </a:r>
            <a:endParaRPr lang="en-US" sz="2800" dirty="0"/>
          </a:p>
        </p:txBody>
      </p:sp>
      <p:sp>
        <p:nvSpPr>
          <p:cNvPr id="5" name="Text 3"/>
          <p:cNvSpPr/>
          <p:nvPr/>
        </p:nvSpPr>
        <p:spPr>
          <a:xfrm>
            <a:off x="502920" y="1261872"/>
            <a:ext cx="10972800" cy="365760"/>
          </a:xfrm>
          <a:prstGeom prst="rect">
            <a:avLst/>
          </a:prstGeom>
          <a:noFill/>
          <a:ln/>
        </p:spPr>
        <p:txBody>
          <a:bodyPr wrap="square" lIns="0" tIns="0" rIns="0" bIns="0" rtlCol="0" anchor="ctr"/>
          <a:lstStyle/>
          <a:p>
            <a:pPr indent="0" marL="0">
              <a:buNone/>
            </a:pPr>
            <a:r>
              <a:rPr lang="en-US" sz="1600" dirty="0">
                <a:solidFill>
                  <a:srgbClr val="5C6573"/>
                </a:solidFill>
                <a:latin typeface="Arial" pitchFamily="34" charset="0"/>
                <a:ea typeface="Arial" pitchFamily="34" charset="-122"/>
                <a:cs typeface="Arial" pitchFamily="34" charset="-120"/>
              </a:rPr>
              <a:t>272 cutting passes. Healthy tool, damaged tool, or a drifted axis. These 55 were never used for training.</a:t>
            </a:r>
            <a:endParaRPr lang="en-US" sz="1600" dirty="0"/>
          </a:p>
        </p:txBody>
      </p:sp>
      <p:sp>
        <p:nvSpPr>
          <p:cNvPr id="6" name="Text 4"/>
          <p:cNvSpPr/>
          <p:nvPr/>
        </p:nvSpPr>
        <p:spPr>
          <a:xfrm>
            <a:off x="502920" y="1874520"/>
            <a:ext cx="2194560" cy="960120"/>
          </a:xfrm>
          <a:prstGeom prst="rect">
            <a:avLst/>
          </a:prstGeom>
          <a:noFill/>
          <a:ln/>
        </p:spPr>
        <p:txBody>
          <a:bodyPr wrap="square" lIns="0" tIns="0" rIns="0" bIns="0" rtlCol="0" anchor="ctr"/>
          <a:lstStyle/>
          <a:p>
            <a:pPr indent="0" marL="0">
              <a:buNone/>
            </a:pPr>
            <a:r>
              <a:rPr lang="en-US" sz="7200" b="1" dirty="0">
                <a:solidFill>
                  <a:srgbClr val="12171F"/>
                </a:solidFill>
                <a:latin typeface="Arial" pitchFamily="34" charset="0"/>
                <a:ea typeface="Arial" pitchFamily="34" charset="-122"/>
                <a:cs typeface="Arial" pitchFamily="34" charset="-120"/>
              </a:rPr>
              <a:t>43</a:t>
            </a:r>
            <a:endParaRPr lang="en-US" sz="7200" dirty="0"/>
          </a:p>
        </p:txBody>
      </p:sp>
      <p:sp>
        <p:nvSpPr>
          <p:cNvPr id="7" name="Text 5"/>
          <p:cNvSpPr/>
          <p:nvPr/>
        </p:nvSpPr>
        <p:spPr>
          <a:xfrm>
            <a:off x="2788920" y="2057400"/>
            <a:ext cx="3657600" cy="320040"/>
          </a:xfrm>
          <a:prstGeom prst="rect">
            <a:avLst/>
          </a:prstGeom>
          <a:noFill/>
          <a:ln/>
        </p:spPr>
        <p:txBody>
          <a:bodyPr wrap="square" lIns="0" tIns="0" rIns="0" bIns="0" rtlCol="0" anchor="ctr"/>
          <a:lstStyle/>
          <a:p>
            <a:pPr indent="0" marL="0">
              <a:buNone/>
            </a:pPr>
            <a:r>
              <a:rPr lang="en-US" sz="1600" b="1" dirty="0">
                <a:solidFill>
                  <a:srgbClr val="5C6573"/>
                </a:solidFill>
                <a:latin typeface="Arial" pitchFamily="34" charset="0"/>
                <a:ea typeface="Arial" pitchFamily="34" charset="-122"/>
                <a:cs typeface="Arial" pitchFamily="34" charset="-120"/>
              </a:rPr>
              <a:t>of 55 missed</a:t>
            </a:r>
            <a:endParaRPr lang="en-US" sz="1600" dirty="0"/>
          </a:p>
        </p:txBody>
      </p:sp>
      <p:sp>
        <p:nvSpPr>
          <p:cNvPr id="8" name="Text 6"/>
          <p:cNvSpPr/>
          <p:nvPr/>
        </p:nvSpPr>
        <p:spPr>
          <a:xfrm>
            <a:off x="2788920" y="2395728"/>
            <a:ext cx="5029200" cy="320040"/>
          </a:xfrm>
          <a:prstGeom prst="rect">
            <a:avLst/>
          </a:prstGeom>
          <a:noFill/>
          <a:ln/>
        </p:spPr>
        <p:txBody>
          <a:bodyPr wrap="square" lIns="0" tIns="0" rIns="0" bIns="0" rtlCol="0" anchor="ctr"/>
          <a:lstStyle/>
          <a:p>
            <a:pPr indent="0" marL="0">
              <a:buNone/>
            </a:pPr>
            <a:r>
              <a:rPr lang="en-US" sz="1600" dirty="0">
                <a:solidFill>
                  <a:srgbClr val="12171F"/>
                </a:solidFill>
                <a:latin typeface="Arial" pitchFamily="34" charset="0"/>
                <a:ea typeface="Arial" pitchFamily="34" charset="-122"/>
                <a:cs typeface="Arial" pitchFamily="34" charset="-120"/>
              </a:rPr>
              <a:t>Vibration limit already running on the cell</a:t>
            </a:r>
            <a:endParaRPr lang="en-US" sz="1600" dirty="0"/>
          </a:p>
        </p:txBody>
      </p:sp>
      <p:sp>
        <p:nvSpPr>
          <p:cNvPr id="9" name="Text 7"/>
          <p:cNvSpPr/>
          <p:nvPr/>
        </p:nvSpPr>
        <p:spPr>
          <a:xfrm>
            <a:off x="502920" y="3063240"/>
            <a:ext cx="2194560" cy="960120"/>
          </a:xfrm>
          <a:prstGeom prst="rect">
            <a:avLst/>
          </a:prstGeom>
          <a:noFill/>
          <a:ln/>
        </p:spPr>
        <p:txBody>
          <a:bodyPr wrap="square" lIns="0" tIns="0" rIns="0" bIns="0" rtlCol="0" anchor="ctr"/>
          <a:lstStyle/>
          <a:p>
            <a:pPr indent="0" marL="0">
              <a:buNone/>
            </a:pPr>
            <a:r>
              <a:rPr lang="en-US" sz="7200" b="1" dirty="0">
                <a:solidFill>
                  <a:srgbClr val="E07A3D"/>
                </a:solidFill>
                <a:latin typeface="Arial" pitchFamily="34" charset="0"/>
                <a:ea typeface="Arial" pitchFamily="34" charset="-122"/>
                <a:cs typeface="Arial" pitchFamily="34" charset="-120"/>
              </a:rPr>
              <a:t>4</a:t>
            </a:r>
            <a:endParaRPr lang="en-US" sz="7200" dirty="0"/>
          </a:p>
        </p:txBody>
      </p:sp>
      <p:sp>
        <p:nvSpPr>
          <p:cNvPr id="10" name="Text 8"/>
          <p:cNvSpPr/>
          <p:nvPr/>
        </p:nvSpPr>
        <p:spPr>
          <a:xfrm>
            <a:off x="2788920" y="3246120"/>
            <a:ext cx="3657600" cy="320040"/>
          </a:xfrm>
          <a:prstGeom prst="rect">
            <a:avLst/>
          </a:prstGeom>
          <a:noFill/>
          <a:ln/>
        </p:spPr>
        <p:txBody>
          <a:bodyPr wrap="square" lIns="0" tIns="0" rIns="0" bIns="0" rtlCol="0" anchor="ctr"/>
          <a:lstStyle/>
          <a:p>
            <a:pPr indent="0" marL="0">
              <a:buNone/>
            </a:pPr>
            <a:r>
              <a:rPr lang="en-US" sz="1600" b="1" dirty="0">
                <a:solidFill>
                  <a:srgbClr val="5C6573"/>
                </a:solidFill>
                <a:latin typeface="Arial" pitchFamily="34" charset="0"/>
                <a:ea typeface="Arial" pitchFamily="34" charset="-122"/>
                <a:cs typeface="Arial" pitchFamily="34" charset="-120"/>
              </a:rPr>
              <a:t>of 55 missed</a:t>
            </a:r>
            <a:endParaRPr lang="en-US" sz="1600" dirty="0"/>
          </a:p>
        </p:txBody>
      </p:sp>
      <p:sp>
        <p:nvSpPr>
          <p:cNvPr id="11" name="Text 9"/>
          <p:cNvSpPr/>
          <p:nvPr/>
        </p:nvSpPr>
        <p:spPr>
          <a:xfrm>
            <a:off x="2788920" y="3584448"/>
            <a:ext cx="5486400" cy="320040"/>
          </a:xfrm>
          <a:prstGeom prst="rect">
            <a:avLst/>
          </a:prstGeom>
          <a:noFill/>
          <a:ln/>
        </p:spPr>
        <p:txBody>
          <a:bodyPr wrap="square" lIns="0" tIns="0" rIns="0" bIns="0" rtlCol="0" anchor="ctr"/>
          <a:lstStyle/>
          <a:p>
            <a:pPr indent="0" marL="0">
              <a:buNone/>
            </a:pPr>
            <a:r>
              <a:rPr lang="en-US" sz="1600" dirty="0">
                <a:solidFill>
                  <a:srgbClr val="12171F"/>
                </a:solidFill>
                <a:latin typeface="Arial" pitchFamily="34" charset="0"/>
                <a:ea typeface="Arial" pitchFamily="34" charset="-122"/>
                <a:cs typeface="Arial" pitchFamily="34" charset="-120"/>
              </a:rPr>
              <a:t>LightGBM. Clear to ship on this machine.</a:t>
            </a:r>
            <a:endParaRPr lang="en-US" sz="1600" dirty="0"/>
          </a:p>
        </p:txBody>
      </p:sp>
      <p:sp>
        <p:nvSpPr>
          <p:cNvPr id="12" name="Shape 10"/>
          <p:cNvSpPr/>
          <p:nvPr/>
        </p:nvSpPr>
        <p:spPr>
          <a:xfrm>
            <a:off x="502920" y="4297680"/>
            <a:ext cx="11201400" cy="10973"/>
          </a:xfrm>
          <a:prstGeom prst="rect">
            <a:avLst/>
          </a:prstGeom>
          <a:solidFill>
            <a:srgbClr val="D5CBBC"/>
          </a:solidFill>
          <a:ln w="12700">
            <a:solidFill>
              <a:srgbClr val="D5CBBC"/>
            </a:solidFill>
            <a:prstDash val="solid"/>
          </a:ln>
        </p:spPr>
      </p:sp>
      <p:sp>
        <p:nvSpPr>
          <p:cNvPr id="13" name="Text 11"/>
          <p:cNvSpPr/>
          <p:nvPr/>
        </p:nvSpPr>
        <p:spPr>
          <a:xfrm>
            <a:off x="502920" y="4526280"/>
            <a:ext cx="3566160" cy="502920"/>
          </a:xfrm>
          <a:prstGeom prst="rect">
            <a:avLst/>
          </a:prstGeom>
          <a:noFill/>
          <a:ln/>
        </p:spPr>
        <p:txBody>
          <a:bodyPr wrap="square" lIns="0" tIns="0" rIns="0" bIns="0" rtlCol="0" anchor="ctr"/>
          <a:lstStyle/>
          <a:p>
            <a:pPr indent="0" marL="0">
              <a:buNone/>
            </a:pPr>
            <a:r>
              <a:rPr lang="en-US" sz="2600" b="1" dirty="0">
                <a:solidFill>
                  <a:srgbClr val="12171F"/>
                </a:solidFill>
                <a:latin typeface="Arial" pitchFamily="34" charset="0"/>
                <a:ea typeface="Arial" pitchFamily="34" charset="-122"/>
                <a:cs typeface="Arial" pitchFamily="34" charset="-120"/>
              </a:rPr>
              <a:t>0%</a:t>
            </a:r>
            <a:endParaRPr lang="en-US" sz="2600" dirty="0"/>
          </a:p>
        </p:txBody>
      </p:sp>
      <p:sp>
        <p:nvSpPr>
          <p:cNvPr id="14" name="Text 12"/>
          <p:cNvSpPr/>
          <p:nvPr/>
        </p:nvSpPr>
        <p:spPr>
          <a:xfrm>
            <a:off x="502920" y="5074920"/>
            <a:ext cx="3566160" cy="1051560"/>
          </a:xfrm>
          <a:prstGeom prst="rect">
            <a:avLst/>
          </a:prstGeom>
          <a:noFill/>
          <a:ln/>
        </p:spPr>
        <p:txBody>
          <a:bodyPr wrap="square" lIns="0" tIns="0" rIns="0" bIns="0" rtlCol="0" anchor="ctr"/>
          <a:lstStyle/>
          <a:p>
            <a:pPr indent="0" marL="0">
              <a:buNone/>
            </a:pPr>
            <a:r>
              <a:rPr lang="en-US" sz="1500" dirty="0">
                <a:solidFill>
                  <a:srgbClr val="5C6573"/>
                </a:solidFill>
                <a:latin typeface="Arial" pitchFamily="34" charset="0"/>
                <a:ea typeface="Arial" pitchFamily="34" charset="-122"/>
                <a:cs typeface="Arial" pitchFamily="34" charset="-120"/>
              </a:rPr>
              <a:t>False alarms, down from 15.4% on healthy passes this update had not seen.</a:t>
            </a:r>
            <a:endParaRPr lang="en-US" sz="1500" dirty="0"/>
          </a:p>
        </p:txBody>
      </p:sp>
      <p:sp>
        <p:nvSpPr>
          <p:cNvPr id="15" name="Text 13"/>
          <p:cNvSpPr/>
          <p:nvPr/>
        </p:nvSpPr>
        <p:spPr>
          <a:xfrm>
            <a:off x="4343400" y="4526280"/>
            <a:ext cx="3566160" cy="502920"/>
          </a:xfrm>
          <a:prstGeom prst="rect">
            <a:avLst/>
          </a:prstGeom>
          <a:noFill/>
          <a:ln/>
        </p:spPr>
        <p:txBody>
          <a:bodyPr wrap="square" lIns="0" tIns="0" rIns="0" bIns="0" rtlCol="0" anchor="ctr"/>
          <a:lstStyle/>
          <a:p>
            <a:pPr indent="0" marL="0">
              <a:buNone/>
            </a:pPr>
            <a:r>
              <a:rPr lang="en-US" sz="2600" b="1" dirty="0">
                <a:solidFill>
                  <a:srgbClr val="12171F"/>
                </a:solidFill>
                <a:latin typeface="Arial" pitchFamily="34" charset="0"/>
                <a:ea typeface="Arial" pitchFamily="34" charset="-122"/>
                <a:cs typeface="Arial" pitchFamily="34" charset="-120"/>
              </a:rPr>
              <a:t>Not scored</a:t>
            </a:r>
            <a:endParaRPr lang="en-US" sz="2600" dirty="0"/>
          </a:p>
        </p:txBody>
      </p:sp>
      <p:sp>
        <p:nvSpPr>
          <p:cNvPr id="16" name="Text 14"/>
          <p:cNvSpPr/>
          <p:nvPr/>
        </p:nvSpPr>
        <p:spPr>
          <a:xfrm>
            <a:off x="4343400" y="5074920"/>
            <a:ext cx="3566160" cy="1051560"/>
          </a:xfrm>
          <a:prstGeom prst="rect">
            <a:avLst/>
          </a:prstGeom>
          <a:noFill/>
          <a:ln/>
        </p:spPr>
        <p:txBody>
          <a:bodyPr wrap="square" lIns="0" tIns="0" rIns="0" bIns="0" rtlCol="0" anchor="ctr"/>
          <a:lstStyle/>
          <a:p>
            <a:pPr indent="0" marL="0">
              <a:buNone/>
            </a:pPr>
            <a:r>
              <a:rPr lang="en-US" sz="1500" dirty="0">
                <a:solidFill>
                  <a:srgbClr val="5C6573"/>
                </a:solidFill>
                <a:latin typeface="Arial" pitchFamily="34" charset="0"/>
                <a:ea typeface="Arial" pitchFamily="34" charset="-122"/>
                <a:cs typeface="Arial" pitchFamily="34" charset="-120"/>
              </a:rPr>
              <a:t>Warning time. The recordings are health snapshots, so the gate refuses to invent one.</a:t>
            </a:r>
            <a:endParaRPr lang="en-US" sz="1500" dirty="0"/>
          </a:p>
        </p:txBody>
      </p:sp>
      <p:sp>
        <p:nvSpPr>
          <p:cNvPr id="17" name="Text 15"/>
          <p:cNvSpPr/>
          <p:nvPr/>
        </p:nvSpPr>
        <p:spPr>
          <a:xfrm>
            <a:off x="8183880" y="4526280"/>
            <a:ext cx="3566160" cy="502920"/>
          </a:xfrm>
          <a:prstGeom prst="rect">
            <a:avLst/>
          </a:prstGeom>
          <a:noFill/>
          <a:ln/>
        </p:spPr>
        <p:txBody>
          <a:bodyPr wrap="square" lIns="0" tIns="0" rIns="0" bIns="0" rtlCol="0" anchor="ctr"/>
          <a:lstStyle/>
          <a:p>
            <a:pPr indent="0" marL="0">
              <a:buNone/>
            </a:pPr>
            <a:r>
              <a:rPr lang="en-US" sz="2600" b="1" dirty="0">
                <a:solidFill>
                  <a:srgbClr val="12171F"/>
                </a:solidFill>
                <a:latin typeface="Arial" pitchFamily="34" charset="0"/>
                <a:ea typeface="Arial" pitchFamily="34" charset="-122"/>
                <a:cs typeface="Arial" pitchFamily="34" charset="-120"/>
              </a:rPr>
              <a:t>Refused</a:t>
            </a:r>
            <a:endParaRPr lang="en-US" sz="2600" dirty="0"/>
          </a:p>
        </p:txBody>
      </p:sp>
      <p:sp>
        <p:nvSpPr>
          <p:cNvPr id="18" name="Text 16"/>
          <p:cNvSpPr/>
          <p:nvPr/>
        </p:nvSpPr>
        <p:spPr>
          <a:xfrm>
            <a:off x="8183880" y="5074920"/>
            <a:ext cx="3566160" cy="1051560"/>
          </a:xfrm>
          <a:prstGeom prst="rect">
            <a:avLst/>
          </a:prstGeom>
          <a:noFill/>
          <a:ln/>
        </p:spPr>
        <p:txBody>
          <a:bodyPr wrap="square" lIns="0" tIns="0" rIns="0" bIns="0" rtlCol="0" anchor="ctr"/>
          <a:lstStyle/>
          <a:p>
            <a:pPr indent="0" marL="0">
              <a:buNone/>
            </a:pPr>
            <a:r>
              <a:rPr lang="en-US" sz="1500" dirty="0">
                <a:solidFill>
                  <a:srgbClr val="5C6573"/>
                </a:solidFill>
                <a:latin typeface="Arial" pitchFamily="34" charset="0"/>
                <a:ea typeface="Arial" pitchFamily="34" charset="-122"/>
                <a:cs typeface="Arial" pitchFamily="34" charset="-120"/>
              </a:rPr>
              <a:t>XGBoost. An always-alarm. A never-alarm. Each wins one metric by abandoning the other.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0E8"/>
        </a:solidFill>
      </p:bgPr>
    </p:bg>
    <p:spTree>
      <p:nvGrpSpPr>
        <p:cNvPr id="1" name=""/>
        <p:cNvGrpSpPr/>
        <p:nvPr/>
      </p:nvGrpSpPr>
      <p:grpSpPr>
        <a:xfrm>
          <a:off x="0" y="0"/>
          <a:ext cx="0" cy="0"/>
          <a:chOff x="0" y="0"/>
          <a:chExt cx="0" cy="0"/>
        </a:xfrm>
      </p:grpSpPr>
      <p:sp>
        <p:nvSpPr>
          <p:cNvPr id="2" name="Text 0"/>
          <p:cNvSpPr/>
          <p:nvPr/>
        </p:nvSpPr>
        <p:spPr>
          <a:xfrm>
            <a:off x="502920" y="347472"/>
            <a:ext cx="640080" cy="256032"/>
          </a:xfrm>
          <a:prstGeom prst="rect">
            <a:avLst/>
          </a:prstGeom>
          <a:noFill/>
          <a:ln/>
        </p:spPr>
        <p:txBody>
          <a:bodyPr wrap="square" lIns="0" tIns="0" rIns="0" bIns="0" rtlCol="0" anchor="ctr"/>
          <a:lstStyle/>
          <a:p>
            <a:pPr indent="0" marL="0">
              <a:buNone/>
            </a:pPr>
            <a:r>
              <a:rPr lang="en-US" sz="1300" b="1" dirty="0">
                <a:solidFill>
                  <a:srgbClr val="5C6573"/>
                </a:solidFill>
                <a:latin typeface="Arial" pitchFamily="34" charset="0"/>
                <a:ea typeface="Arial" pitchFamily="34" charset="-122"/>
                <a:cs typeface="Arial" pitchFamily="34" charset="-120"/>
              </a:rPr>
              <a:t>05</a:t>
            </a:r>
            <a:endParaRPr lang="en-US" sz="1300" dirty="0"/>
          </a:p>
        </p:txBody>
      </p:sp>
      <p:sp>
        <p:nvSpPr>
          <p:cNvPr id="3" name="Text 1"/>
          <p:cNvSpPr/>
          <p:nvPr/>
        </p:nvSpPr>
        <p:spPr>
          <a:xfrm>
            <a:off x="1097280" y="347472"/>
            <a:ext cx="5486400" cy="256032"/>
          </a:xfrm>
          <a:prstGeom prst="rect">
            <a:avLst/>
          </a:prstGeom>
          <a:noFill/>
          <a:ln/>
        </p:spPr>
        <p:txBody>
          <a:bodyPr wrap="square" lIns="0" tIns="0" rIns="0" bIns="0" rtlCol="0" anchor="ctr"/>
          <a:lstStyle/>
          <a:p>
            <a:pPr indent="0" marL="0">
              <a:buNone/>
            </a:pPr>
            <a:r>
              <a:rPr lang="en-US" sz="1300" b="1" spc="140" kern="0" dirty="0">
                <a:solidFill>
                  <a:srgbClr val="E07A3D"/>
                </a:solidFill>
                <a:latin typeface="Arial" pitchFamily="34" charset="0"/>
                <a:ea typeface="Arial" pitchFamily="34" charset="-122"/>
                <a:cs typeface="Arial" pitchFamily="34" charset="-120"/>
              </a:rPr>
              <a:t>THE GATE</a:t>
            </a:r>
            <a:endParaRPr lang="en-US" sz="1300" dirty="0"/>
          </a:p>
        </p:txBody>
      </p:sp>
      <p:sp>
        <p:nvSpPr>
          <p:cNvPr id="4" name="Text 2"/>
          <p:cNvSpPr/>
          <p:nvPr/>
        </p:nvSpPr>
        <p:spPr>
          <a:xfrm>
            <a:off x="502920" y="749808"/>
            <a:ext cx="10972800" cy="457200"/>
          </a:xfrm>
          <a:prstGeom prst="rect">
            <a:avLst/>
          </a:prstGeom>
          <a:noFill/>
          <a:ln/>
        </p:spPr>
        <p:txBody>
          <a:bodyPr wrap="square" lIns="0" tIns="0" rIns="0" bIns="0" rtlCol="0" anchor="ctr"/>
          <a:lstStyle/>
          <a:p>
            <a:pPr indent="0" marL="0">
              <a:buNone/>
            </a:pPr>
            <a:r>
              <a:rPr lang="en-US" sz="3000" b="1" dirty="0">
                <a:solidFill>
                  <a:srgbClr val="12171F"/>
                </a:solidFill>
                <a:latin typeface="Arial" pitchFamily="34" charset="0"/>
                <a:ea typeface="Arial" pitchFamily="34" charset="-122"/>
                <a:cs typeface="Arial" pitchFamily="34" charset="-120"/>
              </a:rPr>
              <a:t>Pinned before anything is trained.</a:t>
            </a:r>
            <a:endParaRPr lang="en-US" sz="3000" dirty="0"/>
          </a:p>
        </p:txBody>
      </p:sp>
      <p:sp>
        <p:nvSpPr>
          <p:cNvPr id="5" name="Text 3"/>
          <p:cNvSpPr/>
          <p:nvPr/>
        </p:nvSpPr>
        <p:spPr>
          <a:xfrm>
            <a:off x="502920" y="1298448"/>
            <a:ext cx="11155680" cy="411480"/>
          </a:xfrm>
          <a:prstGeom prst="rect">
            <a:avLst/>
          </a:prstGeom>
          <a:noFill/>
          <a:ln/>
        </p:spPr>
        <p:txBody>
          <a:bodyPr wrap="square" lIns="0" tIns="0" rIns="0" bIns="0" rtlCol="0" anchor="ctr"/>
          <a:lstStyle/>
          <a:p>
            <a:pPr indent="0" marL="0">
              <a:buNone/>
            </a:pPr>
            <a:r>
              <a:rPr lang="en-US" sz="1600" dirty="0">
                <a:solidFill>
                  <a:srgbClr val="5C6573"/>
                </a:solidFill>
                <a:latin typeface="Arial" pitchFamily="34" charset="0"/>
                <a:ea typeface="Arial" pitchFamily="34" charset="-122"/>
                <a:cs typeface="Arial" pitchFamily="34" charset="-120"/>
              </a:rPr>
              <a:t>The same five rules score every update on this machine. They are not moved afterward to let a favourite through.</a:t>
            </a:r>
            <a:endParaRPr lang="en-US" sz="1600" dirty="0"/>
          </a:p>
        </p:txBody>
      </p:sp>
      <p:sp>
        <p:nvSpPr>
          <p:cNvPr id="6" name="Text 4"/>
          <p:cNvSpPr/>
          <p:nvPr/>
        </p:nvSpPr>
        <p:spPr>
          <a:xfrm>
            <a:off x="502920" y="1874520"/>
            <a:ext cx="731520" cy="365760"/>
          </a:xfrm>
          <a:prstGeom prst="rect">
            <a:avLst/>
          </a:prstGeom>
          <a:noFill/>
          <a:ln/>
        </p:spPr>
        <p:txBody>
          <a:bodyPr wrap="square" lIns="0" tIns="0" rIns="0" bIns="0" rtlCol="0" anchor="ctr"/>
          <a:lstStyle/>
          <a:p>
            <a:pPr indent="0" marL="0">
              <a:buNone/>
            </a:pPr>
            <a:r>
              <a:rPr lang="en-US" sz="1600" b="1" dirty="0">
                <a:solidFill>
                  <a:srgbClr val="E07A3D"/>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371600" y="1874520"/>
            <a:ext cx="3017520" cy="365760"/>
          </a:xfrm>
          <a:prstGeom prst="rect">
            <a:avLst/>
          </a:prstGeom>
          <a:noFill/>
          <a:ln/>
        </p:spPr>
        <p:txBody>
          <a:bodyPr wrap="square" lIns="0" tIns="0" rIns="0" bIns="0" rtlCol="0" anchor="ctr"/>
          <a:lstStyle/>
          <a:p>
            <a:pPr indent="0" marL="0">
              <a:buNone/>
            </a:pPr>
            <a:r>
              <a:rPr lang="en-US" sz="1800" b="1" dirty="0">
                <a:solidFill>
                  <a:srgbClr val="12171F"/>
                </a:solidFill>
                <a:latin typeface="Arial" pitchFamily="34" charset="0"/>
                <a:ea typeface="Arial" pitchFamily="34" charset="-122"/>
                <a:cs typeface="Arial" pitchFamily="34" charset="-120"/>
              </a:rPr>
              <a:t>Enough evidence</a:t>
            </a:r>
            <a:endParaRPr lang="en-US" sz="1800" dirty="0"/>
          </a:p>
        </p:txBody>
      </p:sp>
      <p:sp>
        <p:nvSpPr>
          <p:cNvPr id="8" name="Text 6"/>
          <p:cNvSpPr/>
          <p:nvPr/>
        </p:nvSpPr>
        <p:spPr>
          <a:xfrm>
            <a:off x="4480560" y="1874520"/>
            <a:ext cx="7132320" cy="548640"/>
          </a:xfrm>
          <a:prstGeom prst="rect">
            <a:avLst/>
          </a:prstGeom>
          <a:noFill/>
          <a:ln/>
        </p:spPr>
        <p:txBody>
          <a:bodyPr wrap="square" lIns="0" tIns="0" rIns="0" bIns="0" rtlCol="0" anchor="ctr"/>
          <a:lstStyle/>
          <a:p>
            <a:pPr indent="0" marL="0">
              <a:buNone/>
            </a:pPr>
            <a:r>
              <a:rPr lang="en-US" sz="1500" dirty="0">
                <a:solidFill>
                  <a:srgbClr val="5C6573"/>
                </a:solidFill>
                <a:latin typeface="Arial" pitchFamily="34" charset="0"/>
                <a:ea typeface="Arial" pitchFamily="34" charset="-122"/>
                <a:cs typeface="Arial" pitchFamily="34" charset="-120"/>
              </a:rPr>
              <a:t>At least 8 held-out faults, or there is no verdict. This cell had 55.</a:t>
            </a:r>
            <a:endParaRPr lang="en-US" sz="1500" dirty="0"/>
          </a:p>
        </p:txBody>
      </p:sp>
      <p:sp>
        <p:nvSpPr>
          <p:cNvPr id="9" name="Text 7"/>
          <p:cNvSpPr/>
          <p:nvPr/>
        </p:nvSpPr>
        <p:spPr>
          <a:xfrm>
            <a:off x="502920" y="2624328"/>
            <a:ext cx="731520" cy="365760"/>
          </a:xfrm>
          <a:prstGeom prst="rect">
            <a:avLst/>
          </a:prstGeom>
          <a:noFill/>
          <a:ln/>
        </p:spPr>
        <p:txBody>
          <a:bodyPr wrap="square" lIns="0" tIns="0" rIns="0" bIns="0" rtlCol="0" anchor="ctr"/>
          <a:lstStyle/>
          <a:p>
            <a:pPr indent="0" marL="0">
              <a:buNone/>
            </a:pPr>
            <a:r>
              <a:rPr lang="en-US" sz="1600" b="1" dirty="0">
                <a:solidFill>
                  <a:srgbClr val="E07A3D"/>
                </a:solidFill>
                <a:latin typeface="Arial" pitchFamily="34" charset="0"/>
                <a:ea typeface="Arial" pitchFamily="34" charset="-122"/>
                <a:cs typeface="Arial" pitchFamily="34" charset="-120"/>
              </a:rPr>
              <a:t>02</a:t>
            </a:r>
            <a:endParaRPr lang="en-US" sz="1600" dirty="0"/>
          </a:p>
        </p:txBody>
      </p:sp>
      <p:sp>
        <p:nvSpPr>
          <p:cNvPr id="10" name="Text 8"/>
          <p:cNvSpPr/>
          <p:nvPr/>
        </p:nvSpPr>
        <p:spPr>
          <a:xfrm>
            <a:off x="1371600" y="2624328"/>
            <a:ext cx="3017520" cy="365760"/>
          </a:xfrm>
          <a:prstGeom prst="rect">
            <a:avLst/>
          </a:prstGeom>
          <a:noFill/>
          <a:ln/>
        </p:spPr>
        <p:txBody>
          <a:bodyPr wrap="square" lIns="0" tIns="0" rIns="0" bIns="0" rtlCol="0" anchor="ctr"/>
          <a:lstStyle/>
          <a:p>
            <a:pPr indent="0" marL="0">
              <a:buNone/>
            </a:pPr>
            <a:r>
              <a:rPr lang="en-US" sz="1800" b="1" dirty="0">
                <a:solidFill>
                  <a:srgbClr val="12171F"/>
                </a:solidFill>
                <a:latin typeface="Arial" pitchFamily="34" charset="0"/>
                <a:ea typeface="Arial" pitchFamily="34" charset="-122"/>
                <a:cs typeface="Arial" pitchFamily="34" charset="-120"/>
              </a:rPr>
              <a:t>Misses no more</a:t>
            </a:r>
            <a:endParaRPr lang="en-US" sz="1800" dirty="0"/>
          </a:p>
        </p:txBody>
      </p:sp>
      <p:sp>
        <p:nvSpPr>
          <p:cNvPr id="11" name="Text 9"/>
          <p:cNvSpPr/>
          <p:nvPr/>
        </p:nvSpPr>
        <p:spPr>
          <a:xfrm>
            <a:off x="4480560" y="2624328"/>
            <a:ext cx="7132320" cy="548640"/>
          </a:xfrm>
          <a:prstGeom prst="rect">
            <a:avLst/>
          </a:prstGeom>
          <a:noFill/>
          <a:ln/>
        </p:spPr>
        <p:txBody>
          <a:bodyPr wrap="square" lIns="0" tIns="0" rIns="0" bIns="0" rtlCol="0" anchor="ctr"/>
          <a:lstStyle/>
          <a:p>
            <a:pPr indent="0" marL="0">
              <a:buNone/>
            </a:pPr>
            <a:r>
              <a:rPr lang="en-US" sz="1500" dirty="0">
                <a:solidFill>
                  <a:srgbClr val="5C6573"/>
                </a:solidFill>
                <a:latin typeface="Arial" pitchFamily="34" charset="0"/>
                <a:ea typeface="Arial" pitchFamily="34" charset="-122"/>
                <a:cs typeface="Arial" pitchFamily="34" charset="-120"/>
              </a:rPr>
              <a:t>Missed faults must not rise above what is running. 4 against 43.</a:t>
            </a:r>
            <a:endParaRPr lang="en-US" sz="1500" dirty="0"/>
          </a:p>
        </p:txBody>
      </p:sp>
      <p:sp>
        <p:nvSpPr>
          <p:cNvPr id="12" name="Text 10"/>
          <p:cNvSpPr/>
          <p:nvPr/>
        </p:nvSpPr>
        <p:spPr>
          <a:xfrm>
            <a:off x="502920" y="3374136"/>
            <a:ext cx="731520" cy="365760"/>
          </a:xfrm>
          <a:prstGeom prst="rect">
            <a:avLst/>
          </a:prstGeom>
          <a:noFill/>
          <a:ln/>
        </p:spPr>
        <p:txBody>
          <a:bodyPr wrap="square" lIns="0" tIns="0" rIns="0" bIns="0" rtlCol="0" anchor="ctr"/>
          <a:lstStyle/>
          <a:p>
            <a:pPr indent="0" marL="0">
              <a:buNone/>
            </a:pPr>
            <a:r>
              <a:rPr lang="en-US" sz="1600" b="1" dirty="0">
                <a:solidFill>
                  <a:srgbClr val="E07A3D"/>
                </a:solidFill>
                <a:latin typeface="Arial" pitchFamily="34" charset="0"/>
                <a:ea typeface="Arial" pitchFamily="34" charset="-122"/>
                <a:cs typeface="Arial" pitchFamily="34" charset="-120"/>
              </a:rPr>
              <a:t>03</a:t>
            </a:r>
            <a:endParaRPr lang="en-US" sz="1600" dirty="0"/>
          </a:p>
        </p:txBody>
      </p:sp>
      <p:sp>
        <p:nvSpPr>
          <p:cNvPr id="13" name="Text 11"/>
          <p:cNvSpPr/>
          <p:nvPr/>
        </p:nvSpPr>
        <p:spPr>
          <a:xfrm>
            <a:off x="1371600" y="3374136"/>
            <a:ext cx="3017520" cy="365760"/>
          </a:xfrm>
          <a:prstGeom prst="rect">
            <a:avLst/>
          </a:prstGeom>
          <a:noFill/>
          <a:ln/>
        </p:spPr>
        <p:txBody>
          <a:bodyPr wrap="square" lIns="0" tIns="0" rIns="0" bIns="0" rtlCol="0" anchor="ctr"/>
          <a:lstStyle/>
          <a:p>
            <a:pPr indent="0" marL="0">
              <a:buNone/>
            </a:pPr>
            <a:r>
              <a:rPr lang="en-US" sz="1800" b="1" dirty="0">
                <a:solidFill>
                  <a:srgbClr val="12171F"/>
                </a:solidFill>
                <a:latin typeface="Arial" pitchFamily="34" charset="0"/>
                <a:ea typeface="Arial" pitchFamily="34" charset="-122"/>
                <a:cs typeface="Arial" pitchFamily="34" charset="-120"/>
              </a:rPr>
              <a:t>Cries wolf less</a:t>
            </a:r>
            <a:endParaRPr lang="en-US" sz="1800" dirty="0"/>
          </a:p>
        </p:txBody>
      </p:sp>
      <p:sp>
        <p:nvSpPr>
          <p:cNvPr id="14" name="Text 12"/>
          <p:cNvSpPr/>
          <p:nvPr/>
        </p:nvSpPr>
        <p:spPr>
          <a:xfrm>
            <a:off x="4480560" y="3374136"/>
            <a:ext cx="7132320" cy="548640"/>
          </a:xfrm>
          <a:prstGeom prst="rect">
            <a:avLst/>
          </a:prstGeom>
          <a:noFill/>
          <a:ln/>
        </p:spPr>
        <p:txBody>
          <a:bodyPr wrap="square" lIns="0" tIns="0" rIns="0" bIns="0" rtlCol="0" anchor="ctr"/>
          <a:lstStyle/>
          <a:p>
            <a:pPr indent="0" marL="0">
              <a:buNone/>
            </a:pPr>
            <a:r>
              <a:rPr lang="en-US" sz="1500" dirty="0">
                <a:solidFill>
                  <a:srgbClr val="5C6573"/>
                </a:solidFill>
                <a:latin typeface="Arial" pitchFamily="34" charset="0"/>
                <a:ea typeface="Arial" pitchFamily="34" charset="-122"/>
                <a:cs typeface="Arial" pitchFamily="34" charset="-120"/>
              </a:rPr>
              <a:t>False alarms under 5%, and at most one point above production. 0% against 15.4%.</a:t>
            </a:r>
            <a:endParaRPr lang="en-US" sz="1500" dirty="0"/>
          </a:p>
        </p:txBody>
      </p:sp>
      <p:sp>
        <p:nvSpPr>
          <p:cNvPr id="15" name="Text 13"/>
          <p:cNvSpPr/>
          <p:nvPr/>
        </p:nvSpPr>
        <p:spPr>
          <a:xfrm>
            <a:off x="502920" y="4123944"/>
            <a:ext cx="731520" cy="365760"/>
          </a:xfrm>
          <a:prstGeom prst="rect">
            <a:avLst/>
          </a:prstGeom>
          <a:noFill/>
          <a:ln/>
        </p:spPr>
        <p:txBody>
          <a:bodyPr wrap="square" lIns="0" tIns="0" rIns="0" bIns="0" rtlCol="0" anchor="ctr"/>
          <a:lstStyle/>
          <a:p>
            <a:pPr indent="0" marL="0">
              <a:buNone/>
            </a:pPr>
            <a:r>
              <a:rPr lang="en-US" sz="1600" b="1" dirty="0">
                <a:solidFill>
                  <a:srgbClr val="E07A3D"/>
                </a:solidFill>
                <a:latin typeface="Arial" pitchFamily="34" charset="0"/>
                <a:ea typeface="Arial" pitchFamily="34" charset="-122"/>
                <a:cs typeface="Arial" pitchFamily="34" charset="-120"/>
              </a:rPr>
              <a:t>04</a:t>
            </a:r>
            <a:endParaRPr lang="en-US" sz="1600" dirty="0"/>
          </a:p>
        </p:txBody>
      </p:sp>
      <p:sp>
        <p:nvSpPr>
          <p:cNvPr id="16" name="Text 14"/>
          <p:cNvSpPr/>
          <p:nvPr/>
        </p:nvSpPr>
        <p:spPr>
          <a:xfrm>
            <a:off x="1371600" y="4123944"/>
            <a:ext cx="3017520" cy="365760"/>
          </a:xfrm>
          <a:prstGeom prst="rect">
            <a:avLst/>
          </a:prstGeom>
          <a:noFill/>
          <a:ln/>
        </p:spPr>
        <p:txBody>
          <a:bodyPr wrap="square" lIns="0" tIns="0" rIns="0" bIns="0" rtlCol="0" anchor="ctr"/>
          <a:lstStyle/>
          <a:p>
            <a:pPr indent="0" marL="0">
              <a:buNone/>
            </a:pPr>
            <a:r>
              <a:rPr lang="en-US" sz="1800" b="1" dirty="0">
                <a:solidFill>
                  <a:srgbClr val="12171F"/>
                </a:solidFill>
                <a:latin typeface="Arial" pitchFamily="34" charset="0"/>
                <a:ea typeface="Arial" pitchFamily="34" charset="-122"/>
                <a:cs typeface="Arial" pitchFamily="34" charset="-120"/>
              </a:rPr>
              <a:t>Warns in time</a:t>
            </a:r>
            <a:endParaRPr lang="en-US" sz="1800" dirty="0"/>
          </a:p>
        </p:txBody>
      </p:sp>
      <p:sp>
        <p:nvSpPr>
          <p:cNvPr id="17" name="Text 15"/>
          <p:cNvSpPr/>
          <p:nvPr/>
        </p:nvSpPr>
        <p:spPr>
          <a:xfrm>
            <a:off x="4480560" y="4123944"/>
            <a:ext cx="7132320" cy="548640"/>
          </a:xfrm>
          <a:prstGeom prst="rect">
            <a:avLst/>
          </a:prstGeom>
          <a:noFill/>
          <a:ln/>
        </p:spPr>
        <p:txBody>
          <a:bodyPr wrap="square" lIns="0" tIns="0" rIns="0" bIns="0" rtlCol="0" anchor="ctr"/>
          <a:lstStyle/>
          <a:p>
            <a:pPr indent="0" marL="0">
              <a:buNone/>
            </a:pPr>
            <a:r>
              <a:rPr lang="en-US" sz="1500" dirty="0">
                <a:solidFill>
                  <a:srgbClr val="5C6573"/>
                </a:solidFill>
                <a:latin typeface="Arial" pitchFamily="34" charset="0"/>
                <a:ea typeface="Arial" pitchFamily="34" charset="-122"/>
                <a:cs typeface="Arial" pitchFamily="34" charset="-120"/>
              </a:rPr>
              <a:t>Only when the environment has a failure clock. This one does not, so the rule is passed as not scored.</a:t>
            </a:r>
            <a:endParaRPr lang="en-US" sz="1500" dirty="0"/>
          </a:p>
        </p:txBody>
      </p:sp>
      <p:sp>
        <p:nvSpPr>
          <p:cNvPr id="18" name="Text 16"/>
          <p:cNvSpPr/>
          <p:nvPr/>
        </p:nvSpPr>
        <p:spPr>
          <a:xfrm>
            <a:off x="502920" y="4873752"/>
            <a:ext cx="731520" cy="365760"/>
          </a:xfrm>
          <a:prstGeom prst="rect">
            <a:avLst/>
          </a:prstGeom>
          <a:noFill/>
          <a:ln/>
        </p:spPr>
        <p:txBody>
          <a:bodyPr wrap="square" lIns="0" tIns="0" rIns="0" bIns="0" rtlCol="0" anchor="ctr"/>
          <a:lstStyle/>
          <a:p>
            <a:pPr indent="0" marL="0">
              <a:buNone/>
            </a:pPr>
            <a:r>
              <a:rPr lang="en-US" sz="1600" b="1" dirty="0">
                <a:solidFill>
                  <a:srgbClr val="E07A3D"/>
                </a:solidFill>
                <a:latin typeface="Arial" pitchFamily="34" charset="0"/>
                <a:ea typeface="Arial" pitchFamily="34" charset="-122"/>
                <a:cs typeface="Arial" pitchFamily="34" charset="-120"/>
              </a:rPr>
              <a:t>05</a:t>
            </a:r>
            <a:endParaRPr lang="en-US" sz="1600" dirty="0"/>
          </a:p>
        </p:txBody>
      </p:sp>
      <p:sp>
        <p:nvSpPr>
          <p:cNvPr id="19" name="Text 17"/>
          <p:cNvSpPr/>
          <p:nvPr/>
        </p:nvSpPr>
        <p:spPr>
          <a:xfrm>
            <a:off x="1371600" y="4873752"/>
            <a:ext cx="3017520" cy="365760"/>
          </a:xfrm>
          <a:prstGeom prst="rect">
            <a:avLst/>
          </a:prstGeom>
          <a:noFill/>
          <a:ln/>
        </p:spPr>
        <p:txBody>
          <a:bodyPr wrap="square" lIns="0" tIns="0" rIns="0" bIns="0" rtlCol="0" anchor="ctr"/>
          <a:lstStyle/>
          <a:p>
            <a:pPr indent="0" marL="0">
              <a:buNone/>
            </a:pPr>
            <a:r>
              <a:rPr lang="en-US" sz="1800" b="1" dirty="0">
                <a:solidFill>
                  <a:srgbClr val="12171F"/>
                </a:solidFill>
                <a:latin typeface="Arial" pitchFamily="34" charset="0"/>
                <a:ea typeface="Arial" pitchFamily="34" charset="-122"/>
                <a:cs typeface="Arial" pitchFamily="34" charset="-120"/>
              </a:rPr>
              <a:t>Genuinely better</a:t>
            </a:r>
            <a:endParaRPr lang="en-US" sz="1800" dirty="0"/>
          </a:p>
        </p:txBody>
      </p:sp>
      <p:sp>
        <p:nvSpPr>
          <p:cNvPr id="20" name="Text 18"/>
          <p:cNvSpPr/>
          <p:nvPr/>
        </p:nvSpPr>
        <p:spPr>
          <a:xfrm>
            <a:off x="4480560" y="4873752"/>
            <a:ext cx="7132320" cy="548640"/>
          </a:xfrm>
          <a:prstGeom prst="rect">
            <a:avLst/>
          </a:prstGeom>
          <a:noFill/>
          <a:ln/>
        </p:spPr>
        <p:txBody>
          <a:bodyPr wrap="square" lIns="0" tIns="0" rIns="0" bIns="0" rtlCol="0" anchor="ctr"/>
          <a:lstStyle/>
          <a:p>
            <a:pPr indent="0" marL="0">
              <a:buNone/>
            </a:pPr>
            <a:r>
              <a:rPr lang="en-US" sz="1500" dirty="0">
                <a:solidFill>
                  <a:srgbClr val="5C6573"/>
                </a:solidFill>
                <a:latin typeface="Arial" pitchFamily="34" charset="0"/>
                <a:ea typeface="Arial" pitchFamily="34" charset="-122"/>
                <a:cs typeface="Arial" pitchFamily="34" charset="-120"/>
              </a:rPr>
              <a:t>Ahead on at least one metric. A tie does not ship.</a:t>
            </a:r>
            <a:endParaRPr lang="en-US" sz="1500" dirty="0"/>
          </a:p>
        </p:txBody>
      </p:sp>
      <p:sp>
        <p:nvSpPr>
          <p:cNvPr id="21" name="Text 19"/>
          <p:cNvSpPr/>
          <p:nvPr/>
        </p:nvSpPr>
        <p:spPr>
          <a:xfrm>
            <a:off x="502920" y="5806440"/>
            <a:ext cx="11155680" cy="365760"/>
          </a:xfrm>
          <a:prstGeom prst="rect">
            <a:avLst/>
          </a:prstGeom>
          <a:noFill/>
          <a:ln/>
        </p:spPr>
        <p:txBody>
          <a:bodyPr wrap="square" lIns="0" tIns="0" rIns="0" bIns="0" rtlCol="0" anchor="ctr"/>
          <a:lstStyle/>
          <a:p>
            <a:pPr indent="0" marL="0">
              <a:buNone/>
            </a:pPr>
            <a:r>
              <a:rPr lang="en-US" sz="1600" i="1" dirty="0">
                <a:solidFill>
                  <a:srgbClr val="12171F"/>
                </a:solidFill>
                <a:latin typeface="Arial" pitchFamily="34" charset="0"/>
                <a:ea typeface="Arial" pitchFamily="34" charset="-122"/>
                <a:cs typeface="Arial" pitchFamily="34" charset="-120"/>
              </a:rPr>
              <a:t>Go around the screen and call the API on an update this gate refused, and it still answers 409.</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F14"/>
        </a:solidFill>
      </p:bgPr>
    </p:bg>
    <p:spTree>
      <p:nvGrpSpPr>
        <p:cNvPr id="1" name=""/>
        <p:cNvGrpSpPr/>
        <p:nvPr/>
      </p:nvGrpSpPr>
      <p:grpSpPr>
        <a:xfrm>
          <a:off x="0" y="0"/>
          <a:ext cx="0" cy="0"/>
          <a:chOff x="0" y="0"/>
          <a:chExt cx="0" cy="0"/>
        </a:xfrm>
      </p:grpSpPr>
      <p:sp>
        <p:nvSpPr>
          <p:cNvPr id="2" name="Text 0"/>
          <p:cNvSpPr/>
          <p:nvPr/>
        </p:nvSpPr>
        <p:spPr>
          <a:xfrm>
            <a:off x="502920" y="384048"/>
            <a:ext cx="10972800" cy="274320"/>
          </a:xfrm>
          <a:prstGeom prst="rect">
            <a:avLst/>
          </a:prstGeom>
          <a:noFill/>
          <a:ln/>
        </p:spPr>
        <p:txBody>
          <a:bodyPr wrap="square" lIns="0" tIns="0" rIns="0" bIns="0" rtlCol="0" anchor="ctr"/>
          <a:lstStyle/>
          <a:p>
            <a:pPr indent="0" marL="0">
              <a:buNone/>
            </a:pPr>
            <a:r>
              <a:rPr lang="en-US" sz="1300" b="1" spc="130" kern="0" dirty="0">
                <a:solidFill>
                  <a:srgbClr val="E07A3D"/>
                </a:solidFill>
                <a:latin typeface="Arial" pitchFamily="34" charset="0"/>
                <a:ea typeface="Arial" pitchFamily="34" charset="-122"/>
                <a:cs typeface="Arial" pitchFamily="34" charset="-120"/>
              </a:rPr>
              <a:t>06    THE REFUSAL</a:t>
            </a:r>
            <a:endParaRPr lang="en-US" sz="1300" dirty="0"/>
          </a:p>
        </p:txBody>
      </p:sp>
      <p:sp>
        <p:nvSpPr>
          <p:cNvPr id="3" name="Text 1"/>
          <p:cNvSpPr/>
          <p:nvPr/>
        </p:nvSpPr>
        <p:spPr>
          <a:xfrm>
            <a:off x="502920" y="868680"/>
            <a:ext cx="10972800" cy="1371600"/>
          </a:xfrm>
          <a:prstGeom prst="rect">
            <a:avLst/>
          </a:prstGeom>
          <a:noFill/>
          <a:ln/>
        </p:spPr>
        <p:txBody>
          <a:bodyPr wrap="square" lIns="0" tIns="0" rIns="0" bIns="0" rtlCol="0" anchor="ctr"/>
          <a:lstStyle/>
          <a:p>
            <a:pPr indent="0" marL="0">
              <a:buNone/>
            </a:pPr>
            <a:r>
              <a:rPr lang="en-US" sz="3400" b="1" dirty="0">
                <a:solidFill>
                  <a:srgbClr val="F7F4EE"/>
                </a:solidFill>
                <a:latin typeface="Arial" pitchFamily="34" charset="0"/>
                <a:ea typeface="Arial" pitchFamily="34" charset="-122"/>
                <a:cs typeface="Arial" pitchFamily="34" charset="-120"/>
              </a:rPr>
              <a:t>It refused an update that was</a:t>
            </a:r>
            <a:endParaRPr lang="en-US" sz="3400" dirty="0"/>
          </a:p>
          <a:p>
            <a:pPr indent="0" marL="0">
              <a:buNone/>
            </a:pPr>
            <a:r>
              <a:rPr lang="en-US" sz="3400" b="1" dirty="0">
                <a:solidFill>
                  <a:srgbClr val="F7F4EE"/>
                </a:solidFill>
                <a:latin typeface="Arial" pitchFamily="34" charset="0"/>
                <a:ea typeface="Arial" pitchFamily="34" charset="-122"/>
                <a:cs typeface="Arial" pitchFamily="34" charset="-120"/>
              </a:rPr>
              <a:t>not safe on this machine.</a:t>
            </a:r>
            <a:endParaRPr lang="en-US" sz="3400" dirty="0"/>
          </a:p>
        </p:txBody>
      </p:sp>
      <p:sp>
        <p:nvSpPr>
          <p:cNvPr id="4" name="Text 2"/>
          <p:cNvSpPr/>
          <p:nvPr/>
        </p:nvSpPr>
        <p:spPr>
          <a:xfrm>
            <a:off x="502920" y="2560320"/>
            <a:ext cx="2926080" cy="1051560"/>
          </a:xfrm>
          <a:prstGeom prst="rect">
            <a:avLst/>
          </a:prstGeom>
          <a:noFill/>
          <a:ln/>
        </p:spPr>
        <p:txBody>
          <a:bodyPr wrap="square" lIns="0" tIns="0" rIns="0" bIns="0" rtlCol="0" anchor="ctr"/>
          <a:lstStyle/>
          <a:p>
            <a:pPr indent="0" marL="0">
              <a:buNone/>
            </a:pPr>
            <a:r>
              <a:rPr lang="en-US" sz="7200" b="1" dirty="0">
                <a:solidFill>
                  <a:srgbClr val="F7F4EE"/>
                </a:solidFill>
                <a:latin typeface="Arial" pitchFamily="34" charset="0"/>
                <a:ea typeface="Arial" pitchFamily="34" charset="-122"/>
                <a:cs typeface="Arial" pitchFamily="34" charset="-120"/>
              </a:rPr>
              <a:t>0</a:t>
            </a:r>
            <a:endParaRPr lang="en-US" sz="7200" dirty="0"/>
          </a:p>
        </p:txBody>
      </p:sp>
      <p:sp>
        <p:nvSpPr>
          <p:cNvPr id="5" name="Text 3"/>
          <p:cNvSpPr/>
          <p:nvPr/>
        </p:nvSpPr>
        <p:spPr>
          <a:xfrm>
            <a:off x="3474720" y="2788920"/>
            <a:ext cx="3657600" cy="731520"/>
          </a:xfrm>
          <a:prstGeom prst="rect">
            <a:avLst/>
          </a:prstGeom>
          <a:noFill/>
          <a:ln/>
        </p:spPr>
        <p:txBody>
          <a:bodyPr wrap="square" lIns="0" tIns="0" rIns="0" bIns="0" rtlCol="0" anchor="ctr"/>
          <a:lstStyle/>
          <a:p>
            <a:pPr indent="0" marL="0">
              <a:buNone/>
            </a:pPr>
            <a:r>
              <a:rPr lang="en-US" sz="1800" dirty="0">
                <a:solidFill>
                  <a:srgbClr val="A8B0BC"/>
                </a:solidFill>
                <a:latin typeface="Arial" pitchFamily="34" charset="0"/>
                <a:ea typeface="Arial" pitchFamily="34" charset="-122"/>
                <a:cs typeface="Arial" pitchFamily="34" charset="-120"/>
              </a:rPr>
              <a:t>of 53 faults missed.</a:t>
            </a:r>
            <a:endParaRPr lang="en-US" sz="1800" dirty="0"/>
          </a:p>
          <a:p>
            <a:pPr indent="0" marL="0">
              <a:buNone/>
            </a:pPr>
            <a:r>
              <a:rPr lang="en-US" sz="1800" dirty="0">
                <a:solidFill>
                  <a:srgbClr val="A8B0BC"/>
                </a:solidFill>
                <a:latin typeface="Arial" pitchFamily="34" charset="0"/>
                <a:ea typeface="Arial" pitchFamily="34" charset="-122"/>
                <a:cs typeface="Arial" pitchFamily="34" charset="-120"/>
              </a:rPr>
              <a:t>Looks like a win.</a:t>
            </a:r>
            <a:endParaRPr lang="en-US" sz="1800" dirty="0"/>
          </a:p>
        </p:txBody>
      </p:sp>
      <p:sp>
        <p:nvSpPr>
          <p:cNvPr id="6" name="Text 4"/>
          <p:cNvSpPr/>
          <p:nvPr/>
        </p:nvSpPr>
        <p:spPr>
          <a:xfrm>
            <a:off x="502920" y="3794760"/>
            <a:ext cx="3291840" cy="960120"/>
          </a:xfrm>
          <a:prstGeom prst="rect">
            <a:avLst/>
          </a:prstGeom>
          <a:noFill/>
          <a:ln/>
        </p:spPr>
        <p:txBody>
          <a:bodyPr wrap="square" lIns="0" tIns="0" rIns="0" bIns="0" rtlCol="0" anchor="ctr"/>
          <a:lstStyle/>
          <a:p>
            <a:pPr indent="0" marL="0">
              <a:buNone/>
            </a:pPr>
            <a:r>
              <a:rPr lang="en-US" sz="5400" b="1" dirty="0">
                <a:solidFill>
                  <a:srgbClr val="E07A3D"/>
                </a:solidFill>
                <a:latin typeface="Arial" pitchFamily="34" charset="0"/>
                <a:ea typeface="Arial" pitchFamily="34" charset="-122"/>
                <a:cs typeface="Arial" pitchFamily="34" charset="-120"/>
              </a:rPr>
              <a:t>92.9%</a:t>
            </a:r>
            <a:endParaRPr lang="en-US" sz="5400" dirty="0"/>
          </a:p>
        </p:txBody>
      </p:sp>
      <p:sp>
        <p:nvSpPr>
          <p:cNvPr id="7" name="Text 5"/>
          <p:cNvSpPr/>
          <p:nvPr/>
        </p:nvSpPr>
        <p:spPr>
          <a:xfrm>
            <a:off x="3931920" y="3931920"/>
            <a:ext cx="4754880" cy="731520"/>
          </a:xfrm>
          <a:prstGeom prst="rect">
            <a:avLst/>
          </a:prstGeom>
          <a:noFill/>
          <a:ln/>
        </p:spPr>
        <p:txBody>
          <a:bodyPr wrap="square" lIns="0" tIns="0" rIns="0" bIns="0" rtlCol="0" anchor="ctr"/>
          <a:lstStyle/>
          <a:p>
            <a:pPr indent="0" marL="0">
              <a:buNone/>
            </a:pPr>
            <a:r>
              <a:rPr lang="en-US" sz="1800" dirty="0">
                <a:solidFill>
                  <a:srgbClr val="A8B0BC"/>
                </a:solidFill>
                <a:latin typeface="Arial" pitchFamily="34" charset="0"/>
                <a:ea typeface="Arial" pitchFamily="34" charset="-122"/>
                <a:cs typeface="Arial" pitchFamily="34" charset="-120"/>
              </a:rPr>
              <a:t>false alarms on healthy</a:t>
            </a:r>
            <a:endParaRPr lang="en-US" sz="1800" dirty="0"/>
          </a:p>
          <a:p>
            <a:pPr indent="0" marL="0">
              <a:buNone/>
            </a:pPr>
            <a:r>
              <a:rPr lang="en-US" sz="1800" dirty="0">
                <a:solidFill>
                  <a:srgbClr val="A8B0BC"/>
                </a:solidFill>
                <a:latin typeface="Arial" pitchFamily="34" charset="0"/>
                <a:ea typeface="Arial" pitchFamily="34" charset="-122"/>
                <a:cs typeface="Arial" pitchFamily="34" charset="-120"/>
              </a:rPr>
              <a:t>passes. It flagged nearly all of them.</a:t>
            </a:r>
            <a:endParaRPr lang="en-US" sz="1800" dirty="0"/>
          </a:p>
        </p:txBody>
      </p:sp>
      <p:sp>
        <p:nvSpPr>
          <p:cNvPr id="8" name="Text 6"/>
          <p:cNvSpPr/>
          <p:nvPr/>
        </p:nvSpPr>
        <p:spPr>
          <a:xfrm>
            <a:off x="502920" y="5029200"/>
            <a:ext cx="11155680" cy="1097280"/>
          </a:xfrm>
          <a:prstGeom prst="rect">
            <a:avLst/>
          </a:prstGeom>
          <a:noFill/>
          <a:ln/>
        </p:spPr>
        <p:txBody>
          <a:bodyPr wrap="square" lIns="0" tIns="0" rIns="0" bIns="0" rtlCol="0" anchor="ctr"/>
          <a:lstStyle/>
          <a:p>
            <a:pPr indent="0" marL="0">
              <a:buNone/>
            </a:pPr>
            <a:r>
              <a:rPr lang="en-US" sz="1600" dirty="0">
                <a:solidFill>
                  <a:srgbClr val="F7F4EE"/>
                </a:solidFill>
                <a:latin typeface="Arial" pitchFamily="34" charset="0"/>
                <a:ea typeface="Arial" pitchFamily="34" charset="-122"/>
                <a:cs typeface="Arial" pitchFamily="34" charset="-120"/>
              </a:rPr>
              <a:t>The model had memorised the setups on this robot. Healthy and faulty recordings scored the same. The gate refused it, and refused XGBoost the same way. The rules did not move. The cut recipe went in as an input, and the next LightGBM cleared the same gate: 4 of 55 missed, no false alarms.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0E8"/>
        </a:solidFill>
      </p:bgPr>
    </p:bg>
    <p:spTree>
      <p:nvGrpSpPr>
        <p:cNvPr id="1" name=""/>
        <p:cNvGrpSpPr/>
        <p:nvPr/>
      </p:nvGrpSpPr>
      <p:grpSpPr>
        <a:xfrm>
          <a:off x="0" y="0"/>
          <a:ext cx="0" cy="0"/>
          <a:chOff x="0" y="0"/>
          <a:chExt cx="0" cy="0"/>
        </a:xfrm>
      </p:grpSpPr>
      <p:sp>
        <p:nvSpPr>
          <p:cNvPr id="2" name="Text 0"/>
          <p:cNvSpPr/>
          <p:nvPr/>
        </p:nvSpPr>
        <p:spPr>
          <a:xfrm>
            <a:off x="457200" y="292608"/>
            <a:ext cx="548640" cy="237744"/>
          </a:xfrm>
          <a:prstGeom prst="rect">
            <a:avLst/>
          </a:prstGeom>
          <a:noFill/>
          <a:ln/>
        </p:spPr>
        <p:txBody>
          <a:bodyPr wrap="square" lIns="0" tIns="0" rIns="0" bIns="0" rtlCol="0" anchor="ctr"/>
          <a:lstStyle/>
          <a:p>
            <a:pPr indent="0" marL="0">
              <a:buNone/>
            </a:pPr>
            <a:r>
              <a:rPr lang="en-US" sz="1300" b="1" dirty="0">
                <a:solidFill>
                  <a:srgbClr val="5C6573"/>
                </a:solidFill>
                <a:latin typeface="Arial" pitchFamily="34" charset="0"/>
                <a:ea typeface="Arial" pitchFamily="34" charset="-122"/>
                <a:cs typeface="Arial" pitchFamily="34" charset="-120"/>
              </a:rPr>
              <a:t>07</a:t>
            </a:r>
            <a:endParaRPr lang="en-US" sz="1300" dirty="0"/>
          </a:p>
        </p:txBody>
      </p:sp>
      <p:sp>
        <p:nvSpPr>
          <p:cNvPr id="3" name="Text 1"/>
          <p:cNvSpPr/>
          <p:nvPr/>
        </p:nvSpPr>
        <p:spPr>
          <a:xfrm>
            <a:off x="1051560" y="292608"/>
            <a:ext cx="4572000" cy="237744"/>
          </a:xfrm>
          <a:prstGeom prst="rect">
            <a:avLst/>
          </a:prstGeom>
          <a:noFill/>
          <a:ln/>
        </p:spPr>
        <p:txBody>
          <a:bodyPr wrap="square" lIns="0" tIns="0" rIns="0" bIns="0" rtlCol="0" anchor="ctr"/>
          <a:lstStyle/>
          <a:p>
            <a:pPr indent="0" marL="0">
              <a:buNone/>
            </a:pPr>
            <a:r>
              <a:rPr lang="en-US" sz="1300" b="1" spc="140" kern="0" dirty="0">
                <a:solidFill>
                  <a:srgbClr val="E07A3D"/>
                </a:solidFill>
                <a:latin typeface="Arial" pitchFamily="34" charset="0"/>
                <a:ea typeface="Arial" pitchFamily="34" charset="-122"/>
                <a:cs typeface="Arial" pitchFamily="34" charset="-120"/>
              </a:rPr>
              <a:t>THE CLICK</a:t>
            </a:r>
            <a:endParaRPr lang="en-US" sz="1300" dirty="0"/>
          </a:p>
        </p:txBody>
      </p:sp>
      <p:sp>
        <p:nvSpPr>
          <p:cNvPr id="4" name="Text 2"/>
          <p:cNvSpPr/>
          <p:nvPr/>
        </p:nvSpPr>
        <p:spPr>
          <a:xfrm>
            <a:off x="411480" y="621792"/>
            <a:ext cx="3840480" cy="1051560"/>
          </a:xfrm>
          <a:prstGeom prst="rect">
            <a:avLst/>
          </a:prstGeom>
          <a:noFill/>
          <a:ln/>
        </p:spPr>
        <p:txBody>
          <a:bodyPr wrap="square" lIns="0" tIns="0" rIns="0" bIns="0" rtlCol="0" anchor="ctr"/>
          <a:lstStyle/>
          <a:p>
            <a:pPr indent="0" marL="0">
              <a:buNone/>
            </a:pPr>
            <a:r>
              <a:rPr lang="en-US" sz="2600" b="1" dirty="0">
                <a:solidFill>
                  <a:srgbClr val="12171F"/>
                </a:solidFill>
                <a:latin typeface="Arial" pitchFamily="34" charset="0"/>
                <a:ea typeface="Arial" pitchFamily="34" charset="-122"/>
                <a:cs typeface="Arial" pitchFamily="34" charset="-120"/>
              </a:rPr>
              <a:t>The proof does not press Ship.</a:t>
            </a:r>
            <a:endParaRPr lang="en-US" sz="2600" dirty="0"/>
          </a:p>
        </p:txBody>
      </p:sp>
      <p:sp>
        <p:nvSpPr>
          <p:cNvPr id="5" name="Text 3"/>
          <p:cNvSpPr/>
          <p:nvPr/>
        </p:nvSpPr>
        <p:spPr>
          <a:xfrm>
            <a:off x="411480" y="1874520"/>
            <a:ext cx="3794760" cy="2103120"/>
          </a:xfrm>
          <a:prstGeom prst="rect">
            <a:avLst/>
          </a:prstGeom>
          <a:noFill/>
          <a:ln/>
        </p:spPr>
        <p:txBody>
          <a:bodyPr wrap="square" lIns="0" tIns="0" rIns="0" bIns="0" rtlCol="0" anchor="ctr"/>
          <a:lstStyle/>
          <a:p>
            <a:pPr indent="0" marL="0">
              <a:buNone/>
            </a:pPr>
            <a:r>
              <a:rPr lang="en-US" sz="1600" dirty="0">
                <a:solidFill>
                  <a:srgbClr val="5C6573"/>
                </a:solidFill>
                <a:latin typeface="Arial" pitchFamily="34" charset="0"/>
                <a:ea typeface="Arial" pitchFamily="34" charset="-122"/>
                <a:cs typeface="Arial" pitchFamily="34" charset="-120"/>
              </a:rPr>
              <a:t>The agent profiles, trains, explains and judges. A person ships the update, and the button lights up only when this machine gets safer.</a:t>
            </a:r>
            <a:endParaRPr lang="en-US" sz="1600" dirty="0"/>
          </a:p>
        </p:txBody>
      </p:sp>
      <p:sp>
        <p:nvSpPr>
          <p:cNvPr id="6" name="Text 4"/>
          <p:cNvSpPr/>
          <p:nvPr/>
        </p:nvSpPr>
        <p:spPr>
          <a:xfrm>
            <a:off x="411480" y="4160520"/>
            <a:ext cx="3794760" cy="1097280"/>
          </a:xfrm>
          <a:prstGeom prst="rect">
            <a:avLst/>
          </a:prstGeom>
          <a:noFill/>
          <a:ln/>
        </p:spPr>
        <p:txBody>
          <a:bodyPr wrap="square" lIns="0" tIns="0" rIns="0" bIns="0" rtlCol="0" anchor="ctr"/>
          <a:lstStyle/>
          <a:p>
            <a:pPr indent="0" marL="0">
              <a:buNone/>
            </a:pPr>
            <a:r>
              <a:rPr lang="en-US" sz="1600" i="1" dirty="0">
                <a:solidFill>
                  <a:srgbClr val="12171F"/>
                </a:solidFill>
                <a:latin typeface="Arial" pitchFamily="34" charset="0"/>
                <a:ea typeface="Arial" pitchFamily="34" charset="-122"/>
                <a:cs typeface="Arial" pitchFamily="34" charset="-120"/>
              </a:rPr>
              <a:t>Ship stays dark until every pinned rule passes.</a:t>
            </a:r>
            <a:endParaRPr lang="en-US" sz="1600" dirty="0"/>
          </a:p>
        </p:txBody>
      </p:sp>
      <p:pic>
        <p:nvPicPr>
          <p:cNvPr id="7" name="Image 0" descr="/workspace/pitch/assets/app-pending.png">    </p:cNvPr>
          <p:cNvPicPr>
            <a:picLocks noChangeAspect="1"/>
          </p:cNvPicPr>
          <p:nvPr/>
        </p:nvPicPr>
        <p:blipFill>
          <a:blip r:embed="rId1"/>
          <a:srcRect l="0" r="0" t="0" b="0"/>
          <a:stretch/>
        </p:blipFill>
        <p:spPr>
          <a:xfrm>
            <a:off x="4343400" y="777240"/>
            <a:ext cx="7452360" cy="4846320"/>
          </a:xfrm>
          <a:prstGeom prst="rect">
            <a:avLst/>
          </a:prstGeom>
          <a:effectLst>
            <a:outerShdw sx="100000" sy="100000" kx="0" ky="0" algn="bl" rotWithShape="0" blurRad="203200" dist="63500" dir="16200000">
              <a:srgbClr val="000000">
                <a:alpha val="16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F14"/>
        </a:solidFill>
      </p:bgPr>
    </p:bg>
    <p:spTree>
      <p:nvGrpSpPr>
        <p:cNvPr id="1" name=""/>
        <p:cNvGrpSpPr/>
        <p:nvPr/>
      </p:nvGrpSpPr>
      <p:grpSpPr>
        <a:xfrm>
          <a:off x="0" y="0"/>
          <a:ext cx="0" cy="0"/>
          <a:chOff x="0" y="0"/>
          <a:chExt cx="0" cy="0"/>
        </a:xfrm>
      </p:grpSpPr>
      <p:pic>
        <p:nvPicPr>
          <p:cNvPr id="2" name="Image 0" descr="/workspace/pitch/assets/abb-irb-arm.jpg">    </p:cNvPr>
          <p:cNvPicPr>
            <a:picLocks noChangeAspect="1"/>
          </p:cNvPicPr>
          <p:nvPr/>
        </p:nvPicPr>
        <p:blipFill>
          <a:blip r:embed="rId1"/>
          <a:srcRect l="0" r="0" t="0" b="0"/>
          <a:stretch/>
        </p:blipFill>
        <p:spPr>
          <a:xfrm>
            <a:off x="0" y="0"/>
            <a:ext cx="5029200" cy="6858000"/>
          </a:xfrm>
          <a:prstGeom prst="rect">
            <a:avLst/>
          </a:prstGeom>
        </p:spPr>
      </p:pic>
      <p:sp>
        <p:nvSpPr>
          <p:cNvPr id="3" name="Shape 0"/>
          <p:cNvSpPr/>
          <p:nvPr/>
        </p:nvSpPr>
        <p:spPr>
          <a:xfrm>
            <a:off x="0" y="6309360"/>
            <a:ext cx="5029200" cy="548640"/>
          </a:xfrm>
          <a:prstGeom prst="rect">
            <a:avLst/>
          </a:prstGeom>
          <a:solidFill>
            <a:srgbClr val="0C0F14">
              <a:alpha val="80000"/>
            </a:srgbClr>
          </a:solidFill>
          <a:ln w="12700">
            <a:solidFill>
              <a:srgbClr val="0C0F14"/>
            </a:solidFill>
            <a:prstDash val="solid"/>
          </a:ln>
        </p:spPr>
      </p:sp>
      <p:sp>
        <p:nvSpPr>
          <p:cNvPr id="4" name="Text 1"/>
          <p:cNvSpPr/>
          <p:nvPr/>
        </p:nvSpPr>
        <p:spPr>
          <a:xfrm>
            <a:off x="228600" y="6473952"/>
            <a:ext cx="4572000" cy="237744"/>
          </a:xfrm>
          <a:prstGeom prst="rect">
            <a:avLst/>
          </a:prstGeom>
          <a:noFill/>
          <a:ln/>
        </p:spPr>
        <p:txBody>
          <a:bodyPr wrap="square" lIns="0" tIns="0" rIns="0" bIns="0" rtlCol="0" anchor="ctr"/>
          <a:lstStyle/>
          <a:p>
            <a:pPr indent="0" marL="0">
              <a:buNone/>
            </a:pPr>
            <a:r>
              <a:rPr lang="en-US" sz="1100" dirty="0">
                <a:solidFill>
                  <a:srgbClr val="F7F4EE"/>
                </a:solidFill>
                <a:latin typeface="Arial" pitchFamily="34" charset="0"/>
                <a:ea typeface="Arial" pitchFamily="34" charset="-122"/>
                <a:cs typeface="Arial" pitchFamily="34" charset="-120"/>
              </a:rPr>
              <a:t>Projekt ANA, CC BY-SA 3.0</a:t>
            </a:r>
            <a:endParaRPr lang="en-US" sz="1100" dirty="0"/>
          </a:p>
        </p:txBody>
      </p:sp>
      <p:sp>
        <p:nvSpPr>
          <p:cNvPr id="5" name="Text 2"/>
          <p:cNvSpPr/>
          <p:nvPr/>
        </p:nvSpPr>
        <p:spPr>
          <a:xfrm>
            <a:off x="5440680" y="365760"/>
            <a:ext cx="6217920" cy="256032"/>
          </a:xfrm>
          <a:prstGeom prst="rect">
            <a:avLst/>
          </a:prstGeom>
          <a:noFill/>
          <a:ln/>
        </p:spPr>
        <p:txBody>
          <a:bodyPr wrap="square" lIns="0" tIns="0" rIns="0" bIns="0" rtlCol="0" anchor="ctr"/>
          <a:lstStyle/>
          <a:p>
            <a:pPr indent="0" marL="0">
              <a:buNone/>
            </a:pPr>
            <a:r>
              <a:rPr lang="en-US" sz="1300" b="1" spc="130" kern="0" dirty="0">
                <a:solidFill>
                  <a:srgbClr val="E07A3D"/>
                </a:solidFill>
                <a:latin typeface="Arial" pitchFamily="34" charset="0"/>
                <a:ea typeface="Arial" pitchFamily="34" charset="-122"/>
                <a:cs typeface="Arial" pitchFamily="34" charset="-120"/>
              </a:rPr>
              <a:t>08    WITH ABB</a:t>
            </a:r>
            <a:endParaRPr lang="en-US" sz="1300" dirty="0"/>
          </a:p>
        </p:txBody>
      </p:sp>
      <p:sp>
        <p:nvSpPr>
          <p:cNvPr id="6" name="Text 3"/>
          <p:cNvSpPr/>
          <p:nvPr/>
        </p:nvSpPr>
        <p:spPr>
          <a:xfrm>
            <a:off x="5440680" y="777240"/>
            <a:ext cx="6309360" cy="1234440"/>
          </a:xfrm>
          <a:prstGeom prst="rect">
            <a:avLst/>
          </a:prstGeom>
          <a:noFill/>
          <a:ln/>
        </p:spPr>
        <p:txBody>
          <a:bodyPr wrap="square" lIns="0" tIns="0" rIns="0" bIns="0" rtlCol="0" anchor="ctr"/>
          <a:lstStyle/>
          <a:p>
            <a:pPr indent="0" marL="0">
              <a:buNone/>
            </a:pPr>
            <a:r>
              <a:rPr lang="en-US" sz="3200" b="1" dirty="0">
                <a:solidFill>
                  <a:srgbClr val="F7F4EE"/>
                </a:solidFill>
                <a:latin typeface="Arial" pitchFamily="34" charset="0"/>
                <a:ea typeface="Arial" pitchFamily="34" charset="-122"/>
                <a:cs typeface="Arial" pitchFamily="34" charset="-120"/>
              </a:rPr>
              <a:t>Prove it on</a:t>
            </a:r>
            <a:endParaRPr lang="en-US" sz="3200" dirty="0"/>
          </a:p>
          <a:p>
            <a:pPr indent="0" marL="0">
              <a:buNone/>
            </a:pPr>
            <a:r>
              <a:rPr lang="en-US" sz="3200" b="1" dirty="0">
                <a:solidFill>
                  <a:srgbClr val="F7F4EE"/>
                </a:solidFill>
                <a:latin typeface="Arial" pitchFamily="34" charset="0"/>
                <a:ea typeface="Arial" pitchFamily="34" charset="-122"/>
                <a:cs typeface="Arial" pitchFamily="34" charset="-120"/>
              </a:rPr>
              <a:t>the next machine.</a:t>
            </a:r>
            <a:endParaRPr lang="en-US" sz="3200" dirty="0"/>
          </a:p>
        </p:txBody>
      </p:sp>
      <p:sp>
        <p:nvSpPr>
          <p:cNvPr id="7" name="Text 4"/>
          <p:cNvSpPr/>
          <p:nvPr/>
        </p:nvSpPr>
        <p:spPr>
          <a:xfrm>
            <a:off x="5440680" y="2240280"/>
            <a:ext cx="640080" cy="292608"/>
          </a:xfrm>
          <a:prstGeom prst="rect">
            <a:avLst/>
          </a:prstGeom>
          <a:noFill/>
          <a:ln/>
        </p:spPr>
        <p:txBody>
          <a:bodyPr wrap="square" lIns="0" tIns="0" rIns="0" bIns="0" rtlCol="0" anchor="ctr"/>
          <a:lstStyle/>
          <a:p>
            <a:pPr indent="0" marL="0">
              <a:buNone/>
            </a:pPr>
            <a:r>
              <a:rPr lang="en-US" sz="1400" b="1" dirty="0">
                <a:solidFill>
                  <a:srgbClr val="E07A3D"/>
                </a:solidFill>
                <a:latin typeface="Arial" pitchFamily="34" charset="0"/>
                <a:ea typeface="Arial" pitchFamily="34" charset="-122"/>
                <a:cs typeface="Arial" pitchFamily="34" charset="-120"/>
              </a:rPr>
              <a:t>01</a:t>
            </a:r>
            <a:endParaRPr lang="en-US" sz="1400" dirty="0"/>
          </a:p>
        </p:txBody>
      </p:sp>
      <p:sp>
        <p:nvSpPr>
          <p:cNvPr id="8" name="Text 5"/>
          <p:cNvSpPr/>
          <p:nvPr/>
        </p:nvSpPr>
        <p:spPr>
          <a:xfrm>
            <a:off x="6126480" y="2240280"/>
            <a:ext cx="5486400" cy="292608"/>
          </a:xfrm>
          <a:prstGeom prst="rect">
            <a:avLst/>
          </a:prstGeom>
          <a:noFill/>
          <a:ln/>
        </p:spPr>
        <p:txBody>
          <a:bodyPr wrap="square" lIns="0" tIns="0" rIns="0" bIns="0" rtlCol="0" anchor="ctr"/>
          <a:lstStyle/>
          <a:p>
            <a:pPr indent="0" marL="0">
              <a:buNone/>
            </a:pPr>
            <a:r>
              <a:rPr lang="en-US" sz="1800" b="1" dirty="0">
                <a:solidFill>
                  <a:srgbClr val="F7F4EE"/>
                </a:solidFill>
                <a:latin typeface="Arial" pitchFamily="34" charset="0"/>
                <a:ea typeface="Arial" pitchFamily="34" charset="-122"/>
                <a:cs typeface="Arial" pitchFamily="34" charset="-120"/>
              </a:rPr>
              <a:t>A second cell</a:t>
            </a:r>
            <a:endParaRPr lang="en-US" sz="1800" dirty="0"/>
          </a:p>
        </p:txBody>
      </p:sp>
      <p:sp>
        <p:nvSpPr>
          <p:cNvPr id="9" name="Text 6"/>
          <p:cNvSpPr/>
          <p:nvPr/>
        </p:nvSpPr>
        <p:spPr>
          <a:xfrm>
            <a:off x="6126480" y="2587752"/>
            <a:ext cx="5486400" cy="777240"/>
          </a:xfrm>
          <a:prstGeom prst="rect">
            <a:avLst/>
          </a:prstGeom>
          <a:noFill/>
          <a:ln/>
        </p:spPr>
        <p:txBody>
          <a:bodyPr wrap="square" lIns="0" tIns="0" rIns="0" bIns="0" rtlCol="0" anchor="ctr"/>
          <a:lstStyle/>
          <a:p>
            <a:pPr indent="0" marL="0">
              <a:buNone/>
            </a:pPr>
            <a:r>
              <a:rPr lang="en-US" sz="1400" dirty="0">
                <a:solidFill>
                  <a:srgbClr val="A8B0BC"/>
                </a:solidFill>
                <a:latin typeface="Arial" pitchFamily="34" charset="0"/>
                <a:ea typeface="Arial" pitchFamily="34" charset="-122"/>
                <a:cs typeface="Arial" pitchFamily="34" charset="-120"/>
              </a:rPr>
              <a:t>Logs from a weld or assembly cell, so the same rules are tested in a different environment.</a:t>
            </a:r>
            <a:endParaRPr lang="en-US" sz="1400" dirty="0"/>
          </a:p>
        </p:txBody>
      </p:sp>
      <p:sp>
        <p:nvSpPr>
          <p:cNvPr id="10" name="Text 7"/>
          <p:cNvSpPr/>
          <p:nvPr/>
        </p:nvSpPr>
        <p:spPr>
          <a:xfrm>
            <a:off x="5440680" y="3566160"/>
            <a:ext cx="640080" cy="292608"/>
          </a:xfrm>
          <a:prstGeom prst="rect">
            <a:avLst/>
          </a:prstGeom>
          <a:noFill/>
          <a:ln/>
        </p:spPr>
        <p:txBody>
          <a:bodyPr wrap="square" lIns="0" tIns="0" rIns="0" bIns="0" rtlCol="0" anchor="ctr"/>
          <a:lstStyle/>
          <a:p>
            <a:pPr indent="0" marL="0">
              <a:buNone/>
            </a:pPr>
            <a:r>
              <a:rPr lang="en-US" sz="1400" b="1" dirty="0">
                <a:solidFill>
                  <a:srgbClr val="E07A3D"/>
                </a:solidFill>
                <a:latin typeface="Arial" pitchFamily="34" charset="0"/>
                <a:ea typeface="Arial" pitchFamily="34" charset="-122"/>
                <a:cs typeface="Arial" pitchFamily="34" charset="-120"/>
              </a:rPr>
              <a:t>02</a:t>
            </a:r>
            <a:endParaRPr lang="en-US" sz="1400" dirty="0"/>
          </a:p>
        </p:txBody>
      </p:sp>
      <p:sp>
        <p:nvSpPr>
          <p:cNvPr id="11" name="Text 8"/>
          <p:cNvSpPr/>
          <p:nvPr/>
        </p:nvSpPr>
        <p:spPr>
          <a:xfrm>
            <a:off x="6126480" y="3566160"/>
            <a:ext cx="5486400" cy="292608"/>
          </a:xfrm>
          <a:prstGeom prst="rect">
            <a:avLst/>
          </a:prstGeom>
          <a:noFill/>
          <a:ln/>
        </p:spPr>
        <p:txBody>
          <a:bodyPr wrap="square" lIns="0" tIns="0" rIns="0" bIns="0" rtlCol="0" anchor="ctr"/>
          <a:lstStyle/>
          <a:p>
            <a:pPr indent="0" marL="0">
              <a:buNone/>
            </a:pPr>
            <a:r>
              <a:rPr lang="en-US" sz="1800" b="1" dirty="0">
                <a:solidFill>
                  <a:srgbClr val="F7F4EE"/>
                </a:solidFill>
                <a:latin typeface="Arial" pitchFamily="34" charset="0"/>
                <a:ea typeface="Arial" pitchFamily="34" charset="-122"/>
                <a:cs typeface="Arial" pitchFamily="34" charset="-120"/>
              </a:rPr>
              <a:t>A failure clock</a:t>
            </a:r>
            <a:endParaRPr lang="en-US" sz="1800" dirty="0"/>
          </a:p>
        </p:txBody>
      </p:sp>
      <p:sp>
        <p:nvSpPr>
          <p:cNvPr id="12" name="Text 9"/>
          <p:cNvSpPr/>
          <p:nvPr/>
        </p:nvSpPr>
        <p:spPr>
          <a:xfrm>
            <a:off x="6126480" y="3913632"/>
            <a:ext cx="5486400" cy="777240"/>
          </a:xfrm>
          <a:prstGeom prst="rect">
            <a:avLst/>
          </a:prstGeom>
          <a:noFill/>
          <a:ln/>
        </p:spPr>
        <p:txBody>
          <a:bodyPr wrap="square" lIns="0" tIns="0" rIns="0" bIns="0" rtlCol="0" anchor="ctr"/>
          <a:lstStyle/>
          <a:p>
            <a:pPr indent="0" marL="0">
              <a:buNone/>
            </a:pPr>
            <a:r>
              <a:rPr lang="en-US" sz="1400" dirty="0">
                <a:solidFill>
                  <a:srgbClr val="A8B0BC"/>
                </a:solidFill>
                <a:latin typeface="Arial" pitchFamily="34" charset="0"/>
                <a:ea typeface="Arial" pitchFamily="34" charset="-122"/>
                <a:cs typeface="Arial" pitchFamily="34" charset="-120"/>
              </a:rPr>
              <a:t>Recordings that run up to a real breakdown, so warning time is scored instead of left blank.</a:t>
            </a:r>
            <a:endParaRPr lang="en-US" sz="1400" dirty="0"/>
          </a:p>
        </p:txBody>
      </p:sp>
      <p:sp>
        <p:nvSpPr>
          <p:cNvPr id="13" name="Text 10"/>
          <p:cNvSpPr/>
          <p:nvPr/>
        </p:nvSpPr>
        <p:spPr>
          <a:xfrm>
            <a:off x="5440680" y="4892040"/>
            <a:ext cx="640080" cy="292608"/>
          </a:xfrm>
          <a:prstGeom prst="rect">
            <a:avLst/>
          </a:prstGeom>
          <a:noFill/>
          <a:ln/>
        </p:spPr>
        <p:txBody>
          <a:bodyPr wrap="square" lIns="0" tIns="0" rIns="0" bIns="0" rtlCol="0" anchor="ctr"/>
          <a:lstStyle/>
          <a:p>
            <a:pPr indent="0" marL="0">
              <a:buNone/>
            </a:pPr>
            <a:r>
              <a:rPr lang="en-US" sz="1400" b="1" dirty="0">
                <a:solidFill>
                  <a:srgbClr val="E07A3D"/>
                </a:solidFill>
                <a:latin typeface="Arial" pitchFamily="34" charset="0"/>
                <a:ea typeface="Arial" pitchFamily="34" charset="-122"/>
                <a:cs typeface="Arial" pitchFamily="34" charset="-120"/>
              </a:rPr>
              <a:t>03</a:t>
            </a:r>
            <a:endParaRPr lang="en-US" sz="1400" dirty="0"/>
          </a:p>
        </p:txBody>
      </p:sp>
      <p:sp>
        <p:nvSpPr>
          <p:cNvPr id="14" name="Text 11"/>
          <p:cNvSpPr/>
          <p:nvPr/>
        </p:nvSpPr>
        <p:spPr>
          <a:xfrm>
            <a:off x="6126480" y="4892040"/>
            <a:ext cx="5486400" cy="292608"/>
          </a:xfrm>
          <a:prstGeom prst="rect">
            <a:avLst/>
          </a:prstGeom>
          <a:noFill/>
          <a:ln/>
        </p:spPr>
        <p:txBody>
          <a:bodyPr wrap="square" lIns="0" tIns="0" rIns="0" bIns="0" rtlCol="0" anchor="ctr"/>
          <a:lstStyle/>
          <a:p>
            <a:pPr indent="0" marL="0">
              <a:buNone/>
            </a:pPr>
            <a:r>
              <a:rPr lang="en-US" sz="1800" b="1" dirty="0">
                <a:solidFill>
                  <a:srgbClr val="F7F4EE"/>
                </a:solidFill>
                <a:latin typeface="Arial" pitchFamily="34" charset="0"/>
                <a:ea typeface="Arial" pitchFamily="34" charset="-122"/>
                <a:cs typeface="Arial" pitchFamily="34" charset="-120"/>
              </a:rPr>
              <a:t>A maintenance lead</a:t>
            </a:r>
            <a:endParaRPr lang="en-US" sz="1800" dirty="0"/>
          </a:p>
        </p:txBody>
      </p:sp>
      <p:sp>
        <p:nvSpPr>
          <p:cNvPr id="15" name="Text 12"/>
          <p:cNvSpPr/>
          <p:nvPr/>
        </p:nvSpPr>
        <p:spPr>
          <a:xfrm>
            <a:off x="6126480" y="5239512"/>
            <a:ext cx="5486400" cy="777240"/>
          </a:xfrm>
          <a:prstGeom prst="rect">
            <a:avLst/>
          </a:prstGeom>
          <a:noFill/>
          <a:ln/>
        </p:spPr>
        <p:txBody>
          <a:bodyPr wrap="square" lIns="0" tIns="0" rIns="0" bIns="0" rtlCol="0" anchor="ctr"/>
          <a:lstStyle/>
          <a:p>
            <a:pPr indent="0" marL="0">
              <a:buNone/>
            </a:pPr>
            <a:r>
              <a:rPr lang="en-US" sz="1400" dirty="0">
                <a:solidFill>
                  <a:srgbClr val="A8B0BC"/>
                </a:solidFill>
                <a:latin typeface="Arial" pitchFamily="34" charset="0"/>
                <a:ea typeface="Arial" pitchFamily="34" charset="-122"/>
                <a:cs typeface="Arial" pitchFamily="34" charset="-120"/>
              </a:rPr>
              <a:t>One person, one live cell, the Ship click. The log of what they shipped, and what the gate refused, is the deliverable.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F14"/>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lIns="0" tIns="0" rIns="0" bIns="0" rtlCol="0" anchor="ctr"/>
          <a:lstStyle/>
          <a:p>
            <a:pPr indent="0" marL="0">
              <a:buNone/>
            </a:pPr>
            <a:r>
              <a:rPr lang="en-US" sz="1300" b="1" spc="140" kern="0" dirty="0">
                <a:solidFill>
                  <a:srgbClr val="E07A3D"/>
                </a:solidFill>
                <a:latin typeface="Arial" pitchFamily="34" charset="0"/>
                <a:ea typeface="Arial" pitchFamily="34" charset="-122"/>
                <a:cs typeface="Arial" pitchFamily="34" charset="-120"/>
              </a:rPr>
              <a:t>ABB ACCELERATOR 2026</a:t>
            </a:r>
            <a:endParaRPr lang="en-US" sz="1300" dirty="0"/>
          </a:p>
        </p:txBody>
      </p:sp>
      <p:sp>
        <p:nvSpPr>
          <p:cNvPr id="3" name="Text 1"/>
          <p:cNvSpPr/>
          <p:nvPr/>
        </p:nvSpPr>
        <p:spPr>
          <a:xfrm>
            <a:off x="548640" y="1371600"/>
            <a:ext cx="10972800" cy="1645920"/>
          </a:xfrm>
          <a:prstGeom prst="rect">
            <a:avLst/>
          </a:prstGeom>
          <a:noFill/>
          <a:ln/>
        </p:spPr>
        <p:txBody>
          <a:bodyPr wrap="square" lIns="0" tIns="0" rIns="0" bIns="0" rtlCol="0" anchor="ctr"/>
          <a:lstStyle/>
          <a:p>
            <a:pPr indent="0" marL="0">
              <a:buNone/>
            </a:pPr>
            <a:r>
              <a:rPr lang="en-US" sz="4800" b="1" dirty="0">
                <a:solidFill>
                  <a:srgbClr val="F7F4EE"/>
                </a:solidFill>
                <a:latin typeface="Arial" pitchFamily="34" charset="0"/>
                <a:ea typeface="Arial" pitchFamily="34" charset="-122"/>
                <a:cs typeface="Arial" pitchFamily="34" charset="-120"/>
              </a:rPr>
              <a:t>See it judged</a:t>
            </a:r>
            <a:endParaRPr lang="en-US" sz="4800" dirty="0"/>
          </a:p>
          <a:p>
            <a:pPr indent="0" marL="0">
              <a:buNone/>
            </a:pPr>
            <a:r>
              <a:rPr lang="en-US" sz="4800" b="1" dirty="0">
                <a:solidFill>
                  <a:srgbClr val="F7F4EE"/>
                </a:solidFill>
                <a:latin typeface="Arial" pitchFamily="34" charset="0"/>
                <a:ea typeface="Arial" pitchFamily="34" charset="-122"/>
                <a:cs typeface="Arial" pitchFamily="34" charset="-120"/>
              </a:rPr>
              <a:t>on the machine.</a:t>
            </a:r>
            <a:endParaRPr lang="en-US" sz="4800" dirty="0"/>
          </a:p>
        </p:txBody>
      </p:sp>
      <p:sp>
        <p:nvSpPr>
          <p:cNvPr id="4" name="Text 2"/>
          <p:cNvSpPr/>
          <p:nvPr/>
        </p:nvSpPr>
        <p:spPr>
          <a:xfrm>
            <a:off x="548640" y="3200400"/>
            <a:ext cx="10515600" cy="502920"/>
          </a:xfrm>
          <a:prstGeom prst="rect">
            <a:avLst/>
          </a:prstGeom>
          <a:noFill/>
          <a:ln/>
        </p:spPr>
        <p:txBody>
          <a:bodyPr wrap="square" lIns="0" tIns="0" rIns="0" bIns="0" rtlCol="0" anchor="ctr"/>
          <a:lstStyle/>
          <a:p>
            <a:pPr indent="0" marL="0">
              <a:buNone/>
            </a:pPr>
            <a:r>
              <a:rPr lang="en-US" sz="1800" dirty="0">
                <a:solidFill>
                  <a:srgbClr val="A8B0BC"/>
                </a:solidFill>
                <a:latin typeface="Arial" pitchFamily="34" charset="0"/>
                <a:ea typeface="Arial" pitchFamily="34" charset="-122"/>
                <a:cs typeface="Arial" pitchFamily="34" charset="-120"/>
              </a:rPr>
              <a:t>The demo opens on the IRB 6660 result. Ship turns on for LightGBM, and only for LightGBM.</a:t>
            </a:r>
            <a:endParaRPr lang="en-US" sz="1800" dirty="0"/>
          </a:p>
        </p:txBody>
      </p:sp>
      <p:sp>
        <p:nvSpPr>
          <p:cNvPr id="5" name="Shape 3"/>
          <p:cNvSpPr/>
          <p:nvPr/>
        </p:nvSpPr>
        <p:spPr>
          <a:xfrm>
            <a:off x="548640" y="3931920"/>
            <a:ext cx="11064240" cy="10973"/>
          </a:xfrm>
          <a:prstGeom prst="rect">
            <a:avLst/>
          </a:prstGeom>
          <a:solidFill>
            <a:srgbClr val="2A3342"/>
          </a:solidFill>
          <a:ln w="12700">
            <a:solidFill>
              <a:srgbClr val="2A3342"/>
            </a:solidFill>
            <a:prstDash val="solid"/>
          </a:ln>
        </p:spPr>
      </p:sp>
      <p:sp>
        <p:nvSpPr>
          <p:cNvPr id="6" name="Text 4"/>
          <p:cNvSpPr/>
          <p:nvPr/>
        </p:nvSpPr>
        <p:spPr>
          <a:xfrm>
            <a:off x="548640" y="4160520"/>
            <a:ext cx="1828800" cy="237744"/>
          </a:xfrm>
          <a:prstGeom prst="rect">
            <a:avLst/>
          </a:prstGeom>
          <a:noFill/>
          <a:ln/>
        </p:spPr>
        <p:txBody>
          <a:bodyPr wrap="square" lIns="0" tIns="0" rIns="0" bIns="0" rtlCol="0" anchor="ctr"/>
          <a:lstStyle/>
          <a:p>
            <a:pPr indent="0" marL="0">
              <a:buNone/>
            </a:pPr>
            <a:r>
              <a:rPr lang="en-US" sz="1200" b="1" spc="130" kern="0" dirty="0">
                <a:solidFill>
                  <a:srgbClr val="E07A3D"/>
                </a:solidFill>
                <a:latin typeface="Arial" pitchFamily="34" charset="0"/>
                <a:ea typeface="Arial" pitchFamily="34" charset="-122"/>
                <a:cs typeface="Arial" pitchFamily="34" charset="-120"/>
              </a:rPr>
              <a:t>DEMO</a:t>
            </a:r>
            <a:endParaRPr lang="en-US" sz="1200" dirty="0"/>
          </a:p>
        </p:txBody>
      </p:sp>
      <p:sp>
        <p:nvSpPr>
          <p:cNvPr id="7" name="Text 5">
            <a:hlinkClick r:id="rId1" tooltip=""/>
          </p:cNvPr>
          <p:cNvSpPr/>
          <p:nvPr/>
        </p:nvSpPr>
        <p:spPr>
          <a:xfrm>
            <a:off x="548640" y="4434840"/>
            <a:ext cx="10972800" cy="365760"/>
          </a:xfrm>
          <a:prstGeom prst="rect">
            <a:avLst/>
          </a:prstGeom>
          <a:noFill/>
          <a:ln/>
        </p:spPr>
        <p:txBody>
          <a:bodyPr wrap="square" lIns="0" tIns="0" rIns="0" bIns="0" rtlCol="0" anchor="ctr"/>
          <a:lstStyle/>
          <a:p>
            <a:pPr indent="0" marL="0">
              <a:buNone/>
            </a:pPr>
            <a:r>
              <a:rPr lang="en-US" sz="2200" u="sng" dirty="0">
                <a:solidFill>
                  <a:srgbClr val="F7F4EE"/>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dhamarit.github.io/promotegate-demo</a:t>
            </a:r>
            <a:endParaRPr lang="en-US" sz="2200" dirty="0"/>
          </a:p>
        </p:txBody>
      </p:sp>
      <p:sp>
        <p:nvSpPr>
          <p:cNvPr id="8" name="Text 6"/>
          <p:cNvSpPr/>
          <p:nvPr/>
        </p:nvSpPr>
        <p:spPr>
          <a:xfrm>
            <a:off x="548640" y="4937760"/>
            <a:ext cx="1828800" cy="237744"/>
          </a:xfrm>
          <a:prstGeom prst="rect">
            <a:avLst/>
          </a:prstGeom>
          <a:noFill/>
          <a:ln/>
        </p:spPr>
        <p:txBody>
          <a:bodyPr wrap="square" lIns="0" tIns="0" rIns="0" bIns="0" rtlCol="0" anchor="ctr"/>
          <a:lstStyle/>
          <a:p>
            <a:pPr indent="0" marL="0">
              <a:buNone/>
            </a:pPr>
            <a:r>
              <a:rPr lang="en-US" sz="1200" b="1" spc="130" kern="0" dirty="0">
                <a:solidFill>
                  <a:srgbClr val="E07A3D"/>
                </a:solidFill>
                <a:latin typeface="Arial" pitchFamily="34" charset="0"/>
                <a:ea typeface="Arial" pitchFamily="34" charset="-122"/>
                <a:cs typeface="Arial" pitchFamily="34" charset="-120"/>
              </a:rPr>
              <a:t>CODE</a:t>
            </a:r>
            <a:endParaRPr lang="en-US" sz="1200" dirty="0"/>
          </a:p>
        </p:txBody>
      </p:sp>
      <p:sp>
        <p:nvSpPr>
          <p:cNvPr id="9" name="Text 7">
            <a:hlinkClick r:id="rId2" tooltip=""/>
          </p:cNvPr>
          <p:cNvSpPr/>
          <p:nvPr/>
        </p:nvSpPr>
        <p:spPr>
          <a:xfrm>
            <a:off x="548640" y="5212080"/>
            <a:ext cx="10972800" cy="365760"/>
          </a:xfrm>
          <a:prstGeom prst="rect">
            <a:avLst/>
          </a:prstGeom>
          <a:noFill/>
          <a:ln/>
        </p:spPr>
        <p:txBody>
          <a:bodyPr wrap="square" lIns="0" tIns="0" rIns="0" bIns="0" rtlCol="0" anchor="ctr"/>
          <a:lstStyle/>
          <a:p>
            <a:pPr indent="0" marL="0">
              <a:buNone/>
            </a:pPr>
            <a:r>
              <a:rPr lang="en-US" sz="2200" u="sng" dirty="0">
                <a:solidFill>
                  <a:srgbClr val="F7F4EE"/>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github.com/dhamariT/promotegate</a:t>
            </a:r>
            <a:endParaRPr lang="en-US" sz="2200" dirty="0"/>
          </a:p>
        </p:txBody>
      </p:sp>
      <p:sp>
        <p:nvSpPr>
          <p:cNvPr id="10" name="Text 8"/>
          <p:cNvSpPr/>
          <p:nvPr/>
        </p:nvSpPr>
        <p:spPr>
          <a:xfrm>
            <a:off x="548640" y="6263640"/>
            <a:ext cx="10972800" cy="237744"/>
          </a:xfrm>
          <a:prstGeom prst="rect">
            <a:avLst/>
          </a:prstGeom>
          <a:noFill/>
          <a:ln/>
        </p:spPr>
        <p:txBody>
          <a:bodyPr wrap="square" lIns="0" tIns="0" rIns="0" bIns="0" rtlCol="0" anchor="ctr"/>
          <a:lstStyle/>
          <a:p>
            <a:pPr indent="0" marL="0">
              <a:buNone/>
            </a:pPr>
            <a:r>
              <a:rPr lang="en-US" sz="1100" dirty="0">
                <a:solidFill>
                  <a:srgbClr val="A8B0BC"/>
                </a:solidFill>
                <a:latin typeface="Arial" pitchFamily="34" charset="0"/>
                <a:ea typeface="Arial" pitchFamily="34" charset="-122"/>
                <a:cs typeface="Arial" pitchFamily="34" charset="-120"/>
              </a:rPr>
              <a:t>Photographs: Ana 2016, CC BY-SA 4.0 · © Peter Potrowl, CC BY 2.5 · Projekt ANA, CC BY-SA 3.0. Wikimedia Commons.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PromoteGate</dc:title>
  <dc:subject>ABB Accelerator 2026</dc:subject>
  <dc:creator>Dhamari Trice-Hanson</dc:creator>
  <cp:lastModifiedBy>Dhamari Trice-Hanson</cp:lastModifiedBy>
  <cp:revision>1</cp:revision>
  <dcterms:created xsi:type="dcterms:W3CDTF">2026-09-27T21:17:58Z</dcterms:created>
  <dcterms:modified xsi:type="dcterms:W3CDTF">2026-09-27T21:17:58Z</dcterms:modified>
</cp:coreProperties>
</file>