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hyperlink" Target="https://dhamarit.github.io/promotegate-demo/" TargetMode="External"/><Relationship Id="rId2" Type="http://schemas.openxmlformats.org/officeDocument/2006/relationships/hyperlink" Target="https://github.com/dhamariT/promotegate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918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60" kern="0" dirty="0">
                <a:solidFill>
                  <a:srgbClr val="12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PROMOTEGATE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217920" y="329184"/>
            <a:ext cx="5513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spc="120" kern="0" dirty="0">
                <a:solidFill>
                  <a:srgbClr val="5C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ABB ACCELERATOR 2026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713232"/>
            <a:ext cx="11274552" cy="13716"/>
          </a:xfrm>
          <a:prstGeom prst="rect">
            <a:avLst/>
          </a:prstGeom>
          <a:solidFill>
            <a:srgbClr val="D5CBBC"/>
          </a:solidFill>
          <a:ln w="12700">
            <a:solidFill>
              <a:srgbClr val="D5CBB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5156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60" kern="0" dirty="0">
                <a:solidFill>
                  <a:srgbClr val="C45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THE MAINTENANCE LEAD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11247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12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Beat the model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457200" y="2377440"/>
            <a:ext cx="11247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i="1" dirty="0">
                <a:solidFill>
                  <a:srgbClr val="C45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already running.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457200" y="3520440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2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new failure model watches the robot only after it misses fewer faults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2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 the one already in production, without crying wolf.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0" y="4617720"/>
            <a:ext cx="12191695" cy="2240280"/>
          </a:xfrm>
          <a:prstGeom prst="rect">
            <a:avLst/>
          </a:prstGeom>
          <a:solidFill>
            <a:srgbClr val="0E1726"/>
          </a:solidFill>
          <a:ln w="12700">
            <a:solidFill>
              <a:srgbClr val="0E17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482803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C45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51206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7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ABB cell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57200" y="557784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B0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Machining, welding, or assembly.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8B0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demo is an IRB 6660.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297680" y="482803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C45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297680" y="51206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7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log it already writes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297680" y="557784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B0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Current, force, torque, vibration,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8B0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saved with the job just run.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138160" y="482803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C45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138160" y="51206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7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human click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138160" y="557784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B0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Promote turns on only when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8B0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new model is safer.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51560" y="25603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C45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SHIFT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589520" y="25603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spc="120" kern="0" dirty="0">
                <a:solidFill>
                  <a:srgbClr val="5C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PROMOTEGATE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621792"/>
            <a:ext cx="11274552" cy="13716"/>
          </a:xfrm>
          <a:prstGeom prst="rect">
            <a:avLst/>
          </a:prstGeom>
          <a:solidFill>
            <a:srgbClr val="D5CBBC"/>
          </a:solidFill>
          <a:ln w="12700">
            <a:solidFill>
              <a:srgbClr val="D5CBB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2296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Monday, before the shift starts.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389888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C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arm cut the same job. A new model trained overnight. One question: is it safer than the rule already watching the robot?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21488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45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2651760"/>
            <a:ext cx="3429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robot logged the shift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57200" y="3840480"/>
            <a:ext cx="3429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C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Current, force, torque, and vibration, saved with the cutting job the arm just finished.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" y="523036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C45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LOG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096512" y="2103120"/>
            <a:ext cx="13716" cy="3246120"/>
          </a:xfrm>
          <a:prstGeom prst="rect">
            <a:avLst/>
          </a:prstGeom>
          <a:solidFill>
            <a:srgbClr val="D5CBBC"/>
          </a:solidFill>
          <a:ln w="12700">
            <a:solidFill>
              <a:srgbClr val="D5CBB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97680" y="21488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45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297680" y="2651760"/>
            <a:ext cx="3429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models get the same test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297680" y="3840480"/>
            <a:ext cx="3429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C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new model and the rule in production, scored on passes the new model has not seen.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297680" y="523036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C45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SCORE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936992" y="2103120"/>
            <a:ext cx="13716" cy="3246120"/>
          </a:xfrm>
          <a:prstGeom prst="rect">
            <a:avLst/>
          </a:prstGeom>
          <a:solidFill>
            <a:srgbClr val="D5CBBC"/>
          </a:solidFill>
          <a:ln w="12700">
            <a:solidFill>
              <a:srgbClr val="D5CBB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38160" y="21488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45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138160" y="2651760"/>
            <a:ext cx="3429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lead makes one call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8138160" y="3840480"/>
            <a:ext cx="3429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C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Promote it for the next shift, or leave production where it is. The reason is saved.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138160" y="523036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C45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CALL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65105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ABB Accelerator 2026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17920" y="6510528"/>
            <a:ext cx="5513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 1  ·  Predictive maintenance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095390" cy="6858000"/>
          </a:xfrm>
          <a:prstGeom prst="rect">
            <a:avLst/>
          </a:prstGeom>
          <a:solidFill>
            <a:srgbClr val="0E1726"/>
          </a:solidFill>
          <a:ln w="12700">
            <a:solidFill>
              <a:srgbClr val="0E17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43891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20" kern="0" dirty="0">
                <a:solidFill>
                  <a:srgbClr val="C45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 MISSES THE FAULT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38912" y="1554480"/>
            <a:ext cx="52120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7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cell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7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finds out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7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mid-shift.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38912" y="4709160"/>
            <a:ext cx="5120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8B0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damaged tool or a drifting axis stays quiet. The line stops when the part, or the arm, does.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38912" y="61264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7C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missed fault is a line-down.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537960" y="43891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20" kern="0" dirty="0">
                <a:solidFill>
                  <a:srgbClr val="C45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 ALARMS ALL DAY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537960" y="1554480"/>
            <a:ext cx="51206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2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crew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12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stops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12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listening.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6537960" y="4709160"/>
            <a:ext cx="5120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C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Healthy passes get flagged. People clear the alarm and keep cutting.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537960" y="61264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45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next real fault is easy to ignore.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51560" y="25603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C45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LEAD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589520" y="25603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spc="120" kern="0" dirty="0">
                <a:solidFill>
                  <a:srgbClr val="5C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PROMOTEGATE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621792"/>
            <a:ext cx="11274552" cy="13716"/>
          </a:xfrm>
          <a:prstGeom prst="rect">
            <a:avLst/>
          </a:prstGeom>
          <a:solidFill>
            <a:srgbClr val="D5CBBC"/>
          </a:solidFill>
          <a:ln w="12700">
            <a:solidFill>
              <a:srgbClr val="D5CBB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229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steps. One screen.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11274552" cy="13716"/>
          </a:xfrm>
          <a:prstGeom prst="rect">
            <a:avLst/>
          </a:prstGeom>
          <a:solidFill>
            <a:srgbClr val="D5CBBC"/>
          </a:solidFill>
          <a:ln w="12700">
            <a:solidFill>
              <a:srgbClr val="D5CBB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810512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5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737360" y="1755648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studio prepares the decision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737360" y="2212848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C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checks the recordings, trains LightGBM and XGBoost, and shows which sensors drove each warning.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3108960"/>
            <a:ext cx="11274552" cy="13716"/>
          </a:xfrm>
          <a:prstGeom prst="rect">
            <a:avLst/>
          </a:prstGeom>
          <a:solidFill>
            <a:srgbClr val="D5CBBC"/>
          </a:solidFill>
          <a:ln w="12700">
            <a:solidFill>
              <a:srgbClr val="D5CBB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364992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5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737360" y="3310128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lead reads two comparisons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737360" y="3767328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C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Faults missed, and false alarms, against the model already in production. Warning time appears only when the recordings have a failure clock.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7200" y="4663440"/>
            <a:ext cx="11274552" cy="13716"/>
          </a:xfrm>
          <a:prstGeom prst="rect">
            <a:avLst/>
          </a:prstGeom>
          <a:solidFill>
            <a:srgbClr val="D5CBBC"/>
          </a:solidFill>
          <a:ln w="12700">
            <a:solidFill>
              <a:srgbClr val="D5CBB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4919472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5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737360" y="4864608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person clicks Promote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737360" y="5321808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C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rules are set before the test. The button turns on only when the new model is safer. The decision is written down either way.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57200" y="65105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ABB Accelerator 2026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217920" y="6510528"/>
            <a:ext cx="5513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 1  ·  Predictive maintenance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51560" y="25603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C45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GATE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589520" y="25603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spc="120" kern="0" dirty="0">
                <a:solidFill>
                  <a:srgbClr val="5C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PROMOTEGATE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621792"/>
            <a:ext cx="11274552" cy="13716"/>
          </a:xfrm>
          <a:prstGeom prst="rect">
            <a:avLst/>
          </a:prstGeom>
          <a:solidFill>
            <a:srgbClr val="D5CBBC"/>
          </a:solidFill>
          <a:ln w="12700">
            <a:solidFill>
              <a:srgbClr val="D5CBB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786384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rules, pinned before anything is trained.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207008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Nobody tunes them afterward to let a favourite through. The new model has to clear every one, on faults it has never seen.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7406640" cy="13716"/>
          </a:xfrm>
          <a:prstGeom prst="rect">
            <a:avLst/>
          </a:prstGeom>
          <a:solidFill>
            <a:srgbClr val="D5CBBC"/>
          </a:solidFill>
          <a:ln w="12700">
            <a:solidFill>
              <a:srgbClr val="D5CBB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883664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45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43000" y="1865376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Enough evidence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611880" y="184708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least 8 held-out faults, or there is no verdict.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629400" y="1865376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 held out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450592"/>
            <a:ext cx="7406640" cy="13716"/>
          </a:xfrm>
          <a:prstGeom prst="rect">
            <a:avLst/>
          </a:prstGeom>
          <a:solidFill>
            <a:srgbClr val="D5CBBC"/>
          </a:solidFill>
          <a:ln w="12700">
            <a:solidFill>
              <a:srgbClr val="D5CBB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596896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45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43000" y="257860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Misses no more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3611880" y="25603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Missed faults must not rise above the model in production.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629400" y="2578608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vs 43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3163824"/>
            <a:ext cx="7406640" cy="13716"/>
          </a:xfrm>
          <a:prstGeom prst="rect">
            <a:avLst/>
          </a:prstGeom>
          <a:solidFill>
            <a:srgbClr val="D5CBBC"/>
          </a:solidFill>
          <a:ln w="12700">
            <a:solidFill>
              <a:srgbClr val="D5CBB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31012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45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43000" y="32918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Cries wolf less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3611880" y="3273552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False alarms under 5%, and at most 1 point above production.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629400" y="329184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 vs 15.4%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3877056"/>
            <a:ext cx="7406640" cy="13716"/>
          </a:xfrm>
          <a:prstGeom prst="rect">
            <a:avLst/>
          </a:prstGeom>
          <a:solidFill>
            <a:srgbClr val="D5CBBC"/>
          </a:solidFill>
          <a:ln w="12700">
            <a:solidFill>
              <a:srgbClr val="D5CBB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0233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45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143000" y="400507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Warns no later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3611880" y="3986784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Scored only when the recordings carry a failure clock. This set does not, so it is not scored.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629400" y="4005072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in this data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57200" y="4590288"/>
            <a:ext cx="7406640" cy="13716"/>
          </a:xfrm>
          <a:prstGeom prst="rect">
            <a:avLst/>
          </a:prstGeom>
          <a:solidFill>
            <a:srgbClr val="D5CBBC"/>
          </a:solidFill>
          <a:ln w="12700">
            <a:solidFill>
              <a:srgbClr val="D5CBB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4736592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45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143000" y="4718304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Genuinely better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3611880" y="4700016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Ahead of production on at least one metric. A tie does not ship.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629400" y="4718304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of two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57200" y="5303520"/>
            <a:ext cx="7406640" cy="13716"/>
          </a:xfrm>
          <a:prstGeom prst="rect">
            <a:avLst/>
          </a:prstGeom>
          <a:solidFill>
            <a:srgbClr val="D5CBBC"/>
          </a:solidFill>
          <a:ln w="12700">
            <a:solidFill>
              <a:srgbClr val="D5CBB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275320" y="1737360"/>
            <a:ext cx="3456432" cy="3584448"/>
          </a:xfrm>
          <a:prstGeom prst="rect">
            <a:avLst/>
          </a:prstGeom>
          <a:solidFill>
            <a:srgbClr val="0E1726"/>
          </a:solidFill>
          <a:ln w="12700">
            <a:solidFill>
              <a:srgbClr val="0E172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503920" y="192024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C45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BACK DOOR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503920" y="224028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7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409</a:t>
            </a:r>
            <a:endParaRPr lang="en-US" sz="5200" dirty="0"/>
          </a:p>
        </p:txBody>
      </p:sp>
      <p:sp>
        <p:nvSpPr>
          <p:cNvPr id="37" name="Text 35"/>
          <p:cNvSpPr/>
          <p:nvPr/>
        </p:nvSpPr>
        <p:spPr>
          <a:xfrm>
            <a:off x="8503920" y="310896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B0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 the API directly on a model the gate refused, and it still says no.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8503920" y="393192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7C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broken controls run every time: one that always alarms, one that never does. Each wins one metric by abandoning the other. A gate that lets either through is broken, and would say so.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57200" y="57150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45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the part AutoML skips. A training score is not the decision.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457200" y="65105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ABB Accelerator 2026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217920" y="6510528"/>
            <a:ext cx="5513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 1  ·  Predictive maintenance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51560" y="25603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C45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PROOF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589520" y="25603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spc="120" kern="0" dirty="0">
                <a:solidFill>
                  <a:srgbClr val="5C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PROMOTEGATE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621792"/>
            <a:ext cx="11274552" cy="13716"/>
          </a:xfrm>
          <a:prstGeom prst="rect">
            <a:avLst/>
          </a:prstGeom>
          <a:solidFill>
            <a:srgbClr val="D5CBBC"/>
          </a:solidFill>
          <a:ln w="12700">
            <a:solidFill>
              <a:srgbClr val="D5CBB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786384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real ABB IRB 6660. 55 faults held back.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207008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272 cutting passes. Healthy tool, damaged tool, or a drifted axis. These 55 faults were never used for training.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" y="173736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12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2468880" y="18745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C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55 missed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468880" y="217627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2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Vibration limit already in production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675120" y="2029968"/>
            <a:ext cx="5029200" cy="256032"/>
          </a:xfrm>
          <a:prstGeom prst="rect">
            <a:avLst/>
          </a:prstGeom>
          <a:solidFill>
            <a:srgbClr val="E6DDD0"/>
          </a:solidFill>
          <a:ln w="12700">
            <a:solidFill>
              <a:srgbClr val="E6DDD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675120" y="2029968"/>
            <a:ext cx="3931920" cy="256032"/>
          </a:xfrm>
          <a:prstGeom prst="rect">
            <a:avLst/>
          </a:prstGeom>
          <a:solidFill>
            <a:srgbClr val="C4501A"/>
          </a:solidFill>
          <a:ln w="12700">
            <a:solidFill>
              <a:srgbClr val="C450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92608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C45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6000" dirty="0"/>
          </a:p>
        </p:txBody>
      </p:sp>
      <p:sp>
        <p:nvSpPr>
          <p:cNvPr id="14" name="Text 12"/>
          <p:cNvSpPr/>
          <p:nvPr/>
        </p:nvSpPr>
        <p:spPr>
          <a:xfrm>
            <a:off x="2468880" y="30632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C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55 missed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468880" y="3364992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2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LightGBM. The lead may promote this one.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675120" y="3218688"/>
            <a:ext cx="5029200" cy="256032"/>
          </a:xfrm>
          <a:prstGeom prst="rect">
            <a:avLst/>
          </a:prstGeom>
          <a:solidFill>
            <a:srgbClr val="E6DDD0"/>
          </a:solidFill>
          <a:ln w="12700">
            <a:solidFill>
              <a:srgbClr val="E6DDD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675120" y="3218688"/>
            <a:ext cx="365760" cy="256032"/>
          </a:xfrm>
          <a:prstGeom prst="rect">
            <a:avLst/>
          </a:prstGeom>
          <a:solidFill>
            <a:srgbClr val="0E1726"/>
          </a:solidFill>
          <a:ln w="12700">
            <a:solidFill>
              <a:srgbClr val="0E172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4160520"/>
            <a:ext cx="11274552" cy="13716"/>
          </a:xfrm>
          <a:prstGeom prst="rect">
            <a:avLst/>
          </a:prstGeom>
          <a:solidFill>
            <a:srgbClr val="D5CBBC"/>
          </a:solidFill>
          <a:ln w="12700">
            <a:solidFill>
              <a:srgbClr val="D5CBB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4389120"/>
            <a:ext cx="3246120" cy="1874520"/>
          </a:xfrm>
          <a:prstGeom prst="rect">
            <a:avLst/>
          </a:prstGeom>
          <a:solidFill>
            <a:srgbClr val="0E1726"/>
          </a:solidFill>
          <a:ln w="12700">
            <a:solidFill>
              <a:srgbClr val="0E172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452628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7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4000" dirty="0"/>
          </a:p>
        </p:txBody>
      </p:sp>
      <p:sp>
        <p:nvSpPr>
          <p:cNvPr id="21" name="Text 19"/>
          <p:cNvSpPr/>
          <p:nvPr/>
        </p:nvSpPr>
        <p:spPr>
          <a:xfrm>
            <a:off x="640080" y="525780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B0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False alarms on healthy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8B0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passes LightGBM had not seen.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931920" y="448056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80" kern="0" dirty="0">
                <a:solidFill>
                  <a:srgbClr val="C45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XGBOOST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931920" y="48463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 of 55 missed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931920" y="54864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Refused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583680" y="448056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80" kern="0" dirty="0">
                <a:solidFill>
                  <a:srgbClr val="C45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ALARM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583680" y="48463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Flags every pass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583680" y="54864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Refused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235440" y="448056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80" kern="0" dirty="0">
                <a:solidFill>
                  <a:srgbClr val="C45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ALARM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235440" y="48463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Misses every fault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9235440" y="54864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Refused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57200" y="65105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ABB Accelerator 2026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217920" y="6510528"/>
            <a:ext cx="5513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 1  ·  Predictive maintenance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51560" y="25603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C45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FIRST RUN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589520" y="25603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spc="120" kern="0" dirty="0">
                <a:solidFill>
                  <a:srgbClr val="5C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PROMOTEGATE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621792"/>
            <a:ext cx="11274552" cy="13716"/>
          </a:xfrm>
          <a:prstGeom prst="rect">
            <a:avLst/>
          </a:prstGeom>
          <a:solidFill>
            <a:srgbClr val="D5CBBC"/>
          </a:solidFill>
          <a:ln w="12700">
            <a:solidFill>
              <a:srgbClr val="D5CBB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786384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gate refused our own model first.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207008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robot, same recordings, a few hours before the result on the last slide. A training score would have shipped it.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5440680" cy="3840480"/>
          </a:xfrm>
          <a:prstGeom prst="rect">
            <a:avLst/>
          </a:prstGeom>
          <a:solidFill>
            <a:srgbClr val="0E1726"/>
          </a:solidFill>
          <a:ln w="12700">
            <a:solidFill>
              <a:srgbClr val="0E17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92024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C45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ONE    REFUSED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224028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7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5200" dirty="0"/>
          </a:p>
        </p:txBody>
      </p:sp>
      <p:sp>
        <p:nvSpPr>
          <p:cNvPr id="11" name="Text 9"/>
          <p:cNvSpPr/>
          <p:nvPr/>
        </p:nvSpPr>
        <p:spPr>
          <a:xfrm>
            <a:off x="2011680" y="237744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8B0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53 faults missed.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A8B0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Looks perfect.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85800" y="315468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C45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93%</a:t>
            </a:r>
            <a:endParaRPr lang="en-US" sz="5200" dirty="0"/>
          </a:p>
        </p:txBody>
      </p:sp>
      <p:sp>
        <p:nvSpPr>
          <p:cNvPr id="13" name="Text 11"/>
          <p:cNvSpPr/>
          <p:nvPr/>
        </p:nvSpPr>
        <p:spPr>
          <a:xfrm>
            <a:off x="2743200" y="329184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8B0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false alarms on healthy passes.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A8B0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flagged nearly everything.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85800" y="4206240"/>
            <a:ext cx="502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7C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had memorised the machine setups. Healthy and faulty recordings scored the same. The gate saw the false alarms and refused it, and refused XGBoost the same way.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55080" y="1737360"/>
            <a:ext cx="5394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changed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355080" y="2121408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cut recipe (depth, feed, spindle speed) became an input, so the model had to learn the fault, not the setup.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55080" y="3035808"/>
            <a:ext cx="5394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did not change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355080" y="3419856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rules. The same five checks scored run two, on 55 held-out faults. LightGBM cleared them. XGBoost did not.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355080" y="4334256"/>
            <a:ext cx="5394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still refuse to claim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355080" y="4718304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Warning time. These recordings are labelled snapshots, not a countdown to a failure. The gate marks it not scored rather than guessing.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7200" y="5806440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45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verdict the gate gives is written to the audit log, refusals included.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57200" y="65105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ABB Accelerator 2026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17920" y="6510528"/>
            <a:ext cx="5513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 1  ·  Predictive maintenance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709160" cy="6858000"/>
          </a:xfrm>
          <a:prstGeom prst="rect">
            <a:avLst/>
          </a:prstGeom>
          <a:solidFill>
            <a:srgbClr val="0E1726"/>
          </a:solidFill>
          <a:ln w="12700">
            <a:solidFill>
              <a:srgbClr val="0E17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38404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10" kern="0" dirty="0">
                <a:solidFill>
                  <a:srgbClr val="C45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   ON THE FLOOR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84048" y="1097280"/>
            <a:ext cx="40233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7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reads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7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log.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84048" y="2606040"/>
            <a:ext cx="4023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E7C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controller</a:t>
            </a:r>
            <a:endParaRPr lang="en-US" sz="2600" dirty="0"/>
          </a:p>
          <a:p>
            <a:pPr indent="0" marL="0">
              <a:buNone/>
            </a:pPr>
            <a:r>
              <a:rPr lang="en-US" sz="2600" i="1" dirty="0">
                <a:solidFill>
                  <a:srgbClr val="E7C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keeps the arm.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84048" y="3977640"/>
            <a:ext cx="3931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8B0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file the robot already writes is the input. A new model has to beat the one in production before it can watch the next shift.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84048" y="59893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B0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ABB Accelerator 2026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74920" y="36576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cell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074920" y="804672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Torque, current, force, and vibration are already on the robot. PromoteGate starts from that file.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074920" y="192024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job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074920" y="2359152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demo is cutting passes on an IRB 6660. A weld cell uses the same check on its own logs.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074920" y="347472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controller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074920" y="3913632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Joint commands stay with the controller. The arm keeps the program it was given.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074920" y="502920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separate click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074920" y="5468112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check can allow a model. Putting it into production is a person’s click, and the click is audited.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5390" y="0"/>
            <a:ext cx="6096305" cy="6858000"/>
          </a:xfrm>
          <a:prstGeom prst="rect">
            <a:avLst/>
          </a:prstGeom>
          <a:solidFill>
            <a:srgbClr val="0E1726"/>
          </a:solidFill>
          <a:ln w="12700">
            <a:solidFill>
              <a:srgbClr val="0E17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4114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20" kern="0" dirty="0">
                <a:solidFill>
                  <a:srgbClr val="C45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   THIS DEMO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38912" y="1554480"/>
            <a:ext cx="5120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12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272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438912" y="269748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passes on one IRB 6660.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38912" y="329184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C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LightGBM has to beat a vibration limit. It missed 4 faults. Production missed 43.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38912" y="59893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45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result is already in the demo.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537960" y="4114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20" kern="0" dirty="0">
                <a:solidFill>
                  <a:srgbClr val="C45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THE LINE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37960" y="1554480"/>
            <a:ext cx="5120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7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7200" dirty="0"/>
          </a:p>
        </p:txBody>
      </p:sp>
      <p:sp>
        <p:nvSpPr>
          <p:cNvPr id="10" name="Text 8"/>
          <p:cNvSpPr/>
          <p:nvPr/>
        </p:nvSpPr>
        <p:spPr>
          <a:xfrm>
            <a:off x="6537960" y="269748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7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has to beat this one.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537960" y="3291840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8B0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new shift is another test. A busier plant is a harder bar. Production is whatever just earned the click.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537960" y="59893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7C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data makes promotion harder.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51560" y="25603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C45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ABB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589520" y="25603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spc="120" kern="0" dirty="0">
                <a:solidFill>
                  <a:srgbClr val="5C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PROMOTEGATE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621792"/>
            <a:ext cx="11274552" cy="13716"/>
          </a:xfrm>
          <a:prstGeom prst="rect">
            <a:avLst/>
          </a:prstGeom>
          <a:solidFill>
            <a:srgbClr val="D5CBBC"/>
          </a:solidFill>
          <a:ln w="12700">
            <a:solidFill>
              <a:srgbClr val="D5CBB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2296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accelerator unlocks.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389888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C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gate works on one public dataset from one robot. Three things only ABB can put in front of it.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21488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45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2651760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second cell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57200" y="3291840"/>
            <a:ext cx="3429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Logs from a weld or assembly cell, so the same five rules are tested on a different job. The demo is machining. The claim is every cell.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" y="523036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C45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 IT TRANSFERS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096512" y="2103120"/>
            <a:ext cx="13716" cy="3246120"/>
          </a:xfrm>
          <a:prstGeom prst="rect">
            <a:avLst/>
          </a:prstGeom>
          <a:solidFill>
            <a:srgbClr val="D5CBBC"/>
          </a:solidFill>
          <a:ln w="12700">
            <a:solidFill>
              <a:srgbClr val="D5CBB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97680" y="21488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45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297680" y="2651760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failure clock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297680" y="3291840"/>
            <a:ext cx="3429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Recordings that run up to a real breakdown, so warning time becomes a scored rule instead of the one we refuse to fake.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297680" y="523036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C45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THE THIRD METRIC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936992" y="2103120"/>
            <a:ext cx="13716" cy="3246120"/>
          </a:xfrm>
          <a:prstGeom prst="rect">
            <a:avLst/>
          </a:prstGeom>
          <a:solidFill>
            <a:srgbClr val="D5CBBC"/>
          </a:solidFill>
          <a:ln w="12700">
            <a:solidFill>
              <a:srgbClr val="D5CBB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38160" y="21488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45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138160" y="2651760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maintenance lead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8138160" y="3291840"/>
            <a:ext cx="3429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person with a live cell and the Promote click for a season. The audit log of what they shipped, and what the gate refused, is the deliverable.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138160" y="523036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C45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PUT THE CLICK IN A HAND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5669280"/>
            <a:ext cx="11274552" cy="13716"/>
          </a:xfrm>
          <a:prstGeom prst="rect">
            <a:avLst/>
          </a:prstGeom>
          <a:solidFill>
            <a:srgbClr val="D5CBBC"/>
          </a:solidFill>
          <a:ln w="12700">
            <a:solidFill>
              <a:srgbClr val="D5CBB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576072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here touches the controller. The input is the log the robot already writes, and the output is a verdict a person acts on.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57200" y="65105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ABB Accelerator 2026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217920" y="6510528"/>
            <a:ext cx="5513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 1  ·  Predictive maintenance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40" kern="0" dirty="0">
                <a:solidFill>
                  <a:srgbClr val="C45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ABB ACCELERATOR 2026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12344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7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the decision.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502920" y="21031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8B0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demo opens on the IRB 6660 result. Promote turns on for LightGBM, and only for LightGBM.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02920" y="2971800"/>
            <a:ext cx="11183112" cy="13716"/>
          </a:xfrm>
          <a:prstGeom prst="rect">
            <a:avLst/>
          </a:prstGeom>
          <a:solidFill>
            <a:srgbClr val="2A3342"/>
          </a:solidFill>
          <a:ln w="12700">
            <a:solidFill>
              <a:srgbClr val="2A33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32461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30" kern="0" dirty="0">
                <a:solidFill>
                  <a:srgbClr val="C45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</a:t>
            </a:r>
            <a:endParaRPr lang="en-US" sz="1200" dirty="0"/>
          </a:p>
        </p:txBody>
      </p:sp>
      <p:sp>
        <p:nvSpPr>
          <p:cNvPr id="7" name="Text 5">
            <a:hlinkClick r:id="rId1" tooltip=""/>
          </p:cNvPr>
          <p:cNvSpPr/>
          <p:nvPr/>
        </p:nvSpPr>
        <p:spPr>
          <a:xfrm>
            <a:off x="502920" y="356616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u="sng" dirty="0">
                <a:solidFill>
                  <a:srgbClr val="F7F4E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dhamarit.github.io/promotegate-demo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02920" y="42062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30" kern="0" dirty="0">
                <a:solidFill>
                  <a:srgbClr val="C45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</a:t>
            </a:r>
            <a:endParaRPr lang="en-US" sz="1200" dirty="0"/>
          </a:p>
        </p:txBody>
      </p:sp>
      <p:sp>
        <p:nvSpPr>
          <p:cNvPr id="9" name="Text 7">
            <a:hlinkClick r:id="rId2" tooltip=""/>
          </p:cNvPr>
          <p:cNvSpPr/>
          <p:nvPr/>
        </p:nvSpPr>
        <p:spPr>
          <a:xfrm>
            <a:off x="502920" y="4526280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u="sng" dirty="0">
                <a:solidFill>
                  <a:srgbClr val="F7F4E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github.com/dhamariT/promotegate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02920" y="6126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B0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PromoteGate  ·  A person still clicks.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PromoteGate</dc:title>
  <dc:subject>ABB Accelerator 2026</dc:subject>
  <dc:creator>Dhamari Trice-Hanson</dc:creator>
  <cp:lastModifiedBy>Dhamari Trice-Hanson</cp:lastModifiedBy>
  <cp:revision>1</cp:revision>
  <dcterms:created xsi:type="dcterms:W3CDTF">2026-09-27T00:30:28Z</dcterms:created>
  <dcterms:modified xsi:type="dcterms:W3CDTF">2026-09-27T00:30:28Z</dcterms:modified>
</cp:coreProperties>
</file>